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62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9" r:id="rId12"/>
    <p:sldId id="271" r:id="rId13"/>
    <p:sldId id="272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499"/>
    <p:restoredTop sz="94706"/>
  </p:normalViewPr>
  <p:slideViewPr>
    <p:cSldViewPr snapToGrid="0">
      <p:cViewPr varScale="1">
        <p:scale>
          <a:sx n="89" d="100"/>
          <a:sy n="89" d="100"/>
        </p:scale>
        <p:origin x="168" y="6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631FFA-542D-4F49-8FAD-F65F3493D93C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AF7B02DA-CA55-480C-8BB6-119B56CF28A8}">
      <dgm:prSet/>
      <dgm:spPr/>
      <dgm:t>
        <a:bodyPr/>
        <a:lstStyle/>
        <a:p>
          <a:r>
            <a:rPr lang="pt-BR" b="0" i="0" baseline="0"/>
            <a:t>Problema: classificação binária de cães e gatos.</a:t>
          </a:r>
          <a:endParaRPr lang="en-US"/>
        </a:p>
      </dgm:t>
    </dgm:pt>
    <dgm:pt modelId="{1137B955-4B6E-4281-841C-404421D58B10}" type="parTrans" cxnId="{EF656F71-5C61-49E4-B8AA-216E302A55C8}">
      <dgm:prSet/>
      <dgm:spPr/>
      <dgm:t>
        <a:bodyPr/>
        <a:lstStyle/>
        <a:p>
          <a:endParaRPr lang="en-US"/>
        </a:p>
      </dgm:t>
    </dgm:pt>
    <dgm:pt modelId="{2245DB05-411E-4DE1-B79A-7F45AE1CC306}" type="sibTrans" cxnId="{EF656F71-5C61-49E4-B8AA-216E302A55C8}">
      <dgm:prSet/>
      <dgm:spPr/>
      <dgm:t>
        <a:bodyPr/>
        <a:lstStyle/>
        <a:p>
          <a:endParaRPr lang="en-US"/>
        </a:p>
      </dgm:t>
    </dgm:pt>
    <dgm:pt modelId="{90AF9F16-8766-401E-BF7E-B09303F7968F}">
      <dgm:prSet/>
      <dgm:spPr/>
      <dgm:t>
        <a:bodyPr/>
        <a:lstStyle/>
        <a:p>
          <a:r>
            <a:rPr lang="pt-BR" b="0" i="0" baseline="0"/>
            <a:t>Abordagem supervisionada com HOG, LBP e classificadores base (k-NN, DT, NB, MLP).</a:t>
          </a:r>
          <a:endParaRPr lang="en-US"/>
        </a:p>
      </dgm:t>
    </dgm:pt>
    <dgm:pt modelId="{09E268EA-EFFB-4CD1-B508-4F3EA5EFDA28}" type="parTrans" cxnId="{7EC6C2AE-9366-4CBB-A90F-295686D702EB}">
      <dgm:prSet/>
      <dgm:spPr/>
      <dgm:t>
        <a:bodyPr/>
        <a:lstStyle/>
        <a:p>
          <a:endParaRPr lang="en-US"/>
        </a:p>
      </dgm:t>
    </dgm:pt>
    <dgm:pt modelId="{F7245CB0-3A50-4D01-B88C-F20F0CD01C3A}" type="sibTrans" cxnId="{7EC6C2AE-9366-4CBB-A90F-295686D702EB}">
      <dgm:prSet/>
      <dgm:spPr/>
      <dgm:t>
        <a:bodyPr/>
        <a:lstStyle/>
        <a:p>
          <a:endParaRPr lang="en-US"/>
        </a:p>
      </dgm:t>
    </dgm:pt>
    <dgm:pt modelId="{F5284148-1161-415A-8BBE-EC05A0EBB95B}">
      <dgm:prSet/>
      <dgm:spPr/>
      <dgm:t>
        <a:bodyPr/>
        <a:lstStyle/>
        <a:p>
          <a:r>
            <a:rPr lang="pt-BR" b="0" i="0" baseline="0"/>
            <a:t>Comitês aplicados: Bagging, Random Forest, Voting e Stacking.</a:t>
          </a:r>
          <a:endParaRPr lang="en-US"/>
        </a:p>
      </dgm:t>
    </dgm:pt>
    <dgm:pt modelId="{21F1EC64-087D-45DE-AF55-E20352327C2F}" type="parTrans" cxnId="{4C79AC39-3946-4882-A838-05E1063DB61A}">
      <dgm:prSet/>
      <dgm:spPr/>
      <dgm:t>
        <a:bodyPr/>
        <a:lstStyle/>
        <a:p>
          <a:endParaRPr lang="en-US"/>
        </a:p>
      </dgm:t>
    </dgm:pt>
    <dgm:pt modelId="{1D20D410-20D3-4559-900C-CE850DDA7B64}" type="sibTrans" cxnId="{4C79AC39-3946-4882-A838-05E1063DB61A}">
      <dgm:prSet/>
      <dgm:spPr/>
      <dgm:t>
        <a:bodyPr/>
        <a:lstStyle/>
        <a:p>
          <a:endParaRPr lang="en-US"/>
        </a:p>
      </dgm:t>
    </dgm:pt>
    <dgm:pt modelId="{D1D77E37-DF99-4C91-B91A-81DC44ECDF68}">
      <dgm:prSet/>
      <dgm:spPr/>
      <dgm:t>
        <a:bodyPr/>
        <a:lstStyle/>
        <a:p>
          <a:r>
            <a:rPr lang="pt-BR" b="0" i="0" baseline="0"/>
            <a:t>Objetivo: comparar desempenho e generalização.</a:t>
          </a:r>
          <a:endParaRPr lang="en-US"/>
        </a:p>
      </dgm:t>
    </dgm:pt>
    <dgm:pt modelId="{6E2BE1F9-4662-4335-8DA1-431FE923CE03}" type="parTrans" cxnId="{FF9E3B86-273E-4AC8-8D90-2C243B36979B}">
      <dgm:prSet/>
      <dgm:spPr/>
      <dgm:t>
        <a:bodyPr/>
        <a:lstStyle/>
        <a:p>
          <a:endParaRPr lang="en-US"/>
        </a:p>
      </dgm:t>
    </dgm:pt>
    <dgm:pt modelId="{4A93DDE2-F9BB-41FF-AF1F-27452887AFD2}" type="sibTrans" cxnId="{FF9E3B86-273E-4AC8-8D90-2C243B36979B}">
      <dgm:prSet/>
      <dgm:spPr/>
      <dgm:t>
        <a:bodyPr/>
        <a:lstStyle/>
        <a:p>
          <a:endParaRPr lang="en-US"/>
        </a:p>
      </dgm:t>
    </dgm:pt>
    <dgm:pt modelId="{01BAC6E5-863A-4678-A879-256BDABC27DC}" type="pres">
      <dgm:prSet presAssocID="{20631FFA-542D-4F49-8FAD-F65F3493D93C}" presName="root" presStyleCnt="0">
        <dgm:presLayoutVars>
          <dgm:dir/>
          <dgm:resizeHandles val="exact"/>
        </dgm:presLayoutVars>
      </dgm:prSet>
      <dgm:spPr/>
    </dgm:pt>
    <dgm:pt modelId="{446EF2F1-C134-4099-BF0A-2FB9000E8547}" type="pres">
      <dgm:prSet presAssocID="{20631FFA-542D-4F49-8FAD-F65F3493D93C}" presName="container" presStyleCnt="0">
        <dgm:presLayoutVars>
          <dgm:dir/>
          <dgm:resizeHandles val="exact"/>
        </dgm:presLayoutVars>
      </dgm:prSet>
      <dgm:spPr/>
    </dgm:pt>
    <dgm:pt modelId="{5D8D983B-5D08-431B-A2E9-8E8FBBF7E17A}" type="pres">
      <dgm:prSet presAssocID="{AF7B02DA-CA55-480C-8BB6-119B56CF28A8}" presName="compNode" presStyleCnt="0"/>
      <dgm:spPr/>
    </dgm:pt>
    <dgm:pt modelId="{0D44EC68-14AE-4D28-B5EE-39B77678F78F}" type="pres">
      <dgm:prSet presAssocID="{AF7B02DA-CA55-480C-8BB6-119B56CF28A8}" presName="iconBgRect" presStyleLbl="bgShp" presStyleIdx="0" presStyleCnt="4"/>
      <dgm:spPr/>
    </dgm:pt>
    <dgm:pt modelId="{2427E030-4B0D-445D-AF47-D2B1EF58B548}" type="pres">
      <dgm:prSet presAssocID="{AF7B02DA-CA55-480C-8BB6-119B56CF28A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to"/>
        </a:ext>
      </dgm:extLst>
    </dgm:pt>
    <dgm:pt modelId="{4E49D2FC-CD23-4FA5-B938-E21714ED1C6A}" type="pres">
      <dgm:prSet presAssocID="{AF7B02DA-CA55-480C-8BB6-119B56CF28A8}" presName="spaceRect" presStyleCnt="0"/>
      <dgm:spPr/>
    </dgm:pt>
    <dgm:pt modelId="{FF605DBA-6C77-4076-A463-0478C7ADA2BD}" type="pres">
      <dgm:prSet presAssocID="{AF7B02DA-CA55-480C-8BB6-119B56CF28A8}" presName="textRect" presStyleLbl="revTx" presStyleIdx="0" presStyleCnt="4">
        <dgm:presLayoutVars>
          <dgm:chMax val="1"/>
          <dgm:chPref val="1"/>
        </dgm:presLayoutVars>
      </dgm:prSet>
      <dgm:spPr/>
    </dgm:pt>
    <dgm:pt modelId="{DF353196-5518-4515-94D3-2891F1C1631D}" type="pres">
      <dgm:prSet presAssocID="{2245DB05-411E-4DE1-B79A-7F45AE1CC306}" presName="sibTrans" presStyleLbl="sibTrans2D1" presStyleIdx="0" presStyleCnt="0"/>
      <dgm:spPr/>
    </dgm:pt>
    <dgm:pt modelId="{0076849B-F287-414B-BEA1-88A6C901FDA1}" type="pres">
      <dgm:prSet presAssocID="{90AF9F16-8766-401E-BF7E-B09303F7968F}" presName="compNode" presStyleCnt="0"/>
      <dgm:spPr/>
    </dgm:pt>
    <dgm:pt modelId="{82D8C3E7-2C6F-4BDC-BFA8-4D2868306A9D}" type="pres">
      <dgm:prSet presAssocID="{90AF9F16-8766-401E-BF7E-B09303F7968F}" presName="iconBgRect" presStyleLbl="bgShp" presStyleIdx="1" presStyleCnt="4"/>
      <dgm:spPr/>
    </dgm:pt>
    <dgm:pt modelId="{A0DEBA1B-E72B-4874-A71A-A9AA706AB489}" type="pres">
      <dgm:prSet presAssocID="{90AF9F16-8766-401E-BF7E-B09303F7968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rco"/>
        </a:ext>
      </dgm:extLst>
    </dgm:pt>
    <dgm:pt modelId="{379446BC-C311-4BB7-BB0C-761752D5FA0F}" type="pres">
      <dgm:prSet presAssocID="{90AF9F16-8766-401E-BF7E-B09303F7968F}" presName="spaceRect" presStyleCnt="0"/>
      <dgm:spPr/>
    </dgm:pt>
    <dgm:pt modelId="{AC11CCE4-A1BF-4076-9A2D-CDAC55D4DBD9}" type="pres">
      <dgm:prSet presAssocID="{90AF9F16-8766-401E-BF7E-B09303F7968F}" presName="textRect" presStyleLbl="revTx" presStyleIdx="1" presStyleCnt="4">
        <dgm:presLayoutVars>
          <dgm:chMax val="1"/>
          <dgm:chPref val="1"/>
        </dgm:presLayoutVars>
      </dgm:prSet>
      <dgm:spPr/>
    </dgm:pt>
    <dgm:pt modelId="{B36C6ACD-23BB-4CF4-8F5C-97DD44F2B6E5}" type="pres">
      <dgm:prSet presAssocID="{F7245CB0-3A50-4D01-B88C-F20F0CD01C3A}" presName="sibTrans" presStyleLbl="sibTrans2D1" presStyleIdx="0" presStyleCnt="0"/>
      <dgm:spPr/>
    </dgm:pt>
    <dgm:pt modelId="{D9EA22BC-DFF6-4CE4-84C5-D4C37A761344}" type="pres">
      <dgm:prSet presAssocID="{F5284148-1161-415A-8BBE-EC05A0EBB95B}" presName="compNode" presStyleCnt="0"/>
      <dgm:spPr/>
    </dgm:pt>
    <dgm:pt modelId="{A789C7D3-24FE-48D9-8D29-99E21E9C2952}" type="pres">
      <dgm:prSet presAssocID="{F5284148-1161-415A-8BBE-EC05A0EBB95B}" presName="iconBgRect" presStyleLbl="bgShp" presStyleIdx="2" presStyleCnt="4"/>
      <dgm:spPr/>
    </dgm:pt>
    <dgm:pt modelId="{E5A92527-644E-4F6B-9262-27CC17612C26}" type="pres">
      <dgm:prSet presAssocID="{F5284148-1161-415A-8BBE-EC05A0EBB95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ED2A6F8E-764F-4881-98BD-DC5179E5BEE9}" type="pres">
      <dgm:prSet presAssocID="{F5284148-1161-415A-8BBE-EC05A0EBB95B}" presName="spaceRect" presStyleCnt="0"/>
      <dgm:spPr/>
    </dgm:pt>
    <dgm:pt modelId="{6D6C36EB-A11A-447F-8A7B-4A1D5FAC648C}" type="pres">
      <dgm:prSet presAssocID="{F5284148-1161-415A-8BBE-EC05A0EBB95B}" presName="textRect" presStyleLbl="revTx" presStyleIdx="2" presStyleCnt="4">
        <dgm:presLayoutVars>
          <dgm:chMax val="1"/>
          <dgm:chPref val="1"/>
        </dgm:presLayoutVars>
      </dgm:prSet>
      <dgm:spPr/>
    </dgm:pt>
    <dgm:pt modelId="{FC6495AD-5C0A-478D-B9D6-34C686B17DC3}" type="pres">
      <dgm:prSet presAssocID="{1D20D410-20D3-4559-900C-CE850DDA7B64}" presName="sibTrans" presStyleLbl="sibTrans2D1" presStyleIdx="0" presStyleCnt="0"/>
      <dgm:spPr/>
    </dgm:pt>
    <dgm:pt modelId="{A92DA637-315A-476B-8AB3-A37539E59D99}" type="pres">
      <dgm:prSet presAssocID="{D1D77E37-DF99-4C91-B91A-81DC44ECDF68}" presName="compNode" presStyleCnt="0"/>
      <dgm:spPr/>
    </dgm:pt>
    <dgm:pt modelId="{3500606C-EE99-48E9-8E34-65B2F8B58927}" type="pres">
      <dgm:prSet presAssocID="{D1D77E37-DF99-4C91-B91A-81DC44ECDF68}" presName="iconBgRect" presStyleLbl="bgShp" presStyleIdx="3" presStyleCnt="4"/>
      <dgm:spPr/>
    </dgm:pt>
    <dgm:pt modelId="{9A3857C8-B1C4-4653-AB7D-0778FC396AB7}" type="pres">
      <dgm:prSet presAssocID="{D1D77E37-DF99-4C91-B91A-81DC44ECDF6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lvo"/>
        </a:ext>
      </dgm:extLst>
    </dgm:pt>
    <dgm:pt modelId="{1E280711-A116-4CE7-AA55-5758631CA34B}" type="pres">
      <dgm:prSet presAssocID="{D1D77E37-DF99-4C91-B91A-81DC44ECDF68}" presName="spaceRect" presStyleCnt="0"/>
      <dgm:spPr/>
    </dgm:pt>
    <dgm:pt modelId="{E34B94B9-3480-4C20-B56D-4F2B5B8D5F7C}" type="pres">
      <dgm:prSet presAssocID="{D1D77E37-DF99-4C91-B91A-81DC44ECDF6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D51FA13-4252-48BC-AEAF-B22DE30FFC28}" type="presOf" srcId="{1D20D410-20D3-4559-900C-CE850DDA7B64}" destId="{FC6495AD-5C0A-478D-B9D6-34C686B17DC3}" srcOrd="0" destOrd="0" presId="urn:microsoft.com/office/officeart/2018/2/layout/IconCircleList"/>
    <dgm:cxn modelId="{4C79AC39-3946-4882-A838-05E1063DB61A}" srcId="{20631FFA-542D-4F49-8FAD-F65F3493D93C}" destId="{F5284148-1161-415A-8BBE-EC05A0EBB95B}" srcOrd="2" destOrd="0" parTransId="{21F1EC64-087D-45DE-AF55-E20352327C2F}" sibTransId="{1D20D410-20D3-4559-900C-CE850DDA7B64}"/>
    <dgm:cxn modelId="{0AA9F550-6AFD-4478-9819-B89DEEAA7CF3}" type="presOf" srcId="{F5284148-1161-415A-8BBE-EC05A0EBB95B}" destId="{6D6C36EB-A11A-447F-8A7B-4A1D5FAC648C}" srcOrd="0" destOrd="0" presId="urn:microsoft.com/office/officeart/2018/2/layout/IconCircleList"/>
    <dgm:cxn modelId="{3E59C16F-8C35-4441-BEB4-09254F67BC48}" type="presOf" srcId="{20631FFA-542D-4F49-8FAD-F65F3493D93C}" destId="{01BAC6E5-863A-4678-A879-256BDABC27DC}" srcOrd="0" destOrd="0" presId="urn:microsoft.com/office/officeart/2018/2/layout/IconCircleList"/>
    <dgm:cxn modelId="{EF656F71-5C61-49E4-B8AA-216E302A55C8}" srcId="{20631FFA-542D-4F49-8FAD-F65F3493D93C}" destId="{AF7B02DA-CA55-480C-8BB6-119B56CF28A8}" srcOrd="0" destOrd="0" parTransId="{1137B955-4B6E-4281-841C-404421D58B10}" sibTransId="{2245DB05-411E-4DE1-B79A-7F45AE1CC306}"/>
    <dgm:cxn modelId="{FF9E3B86-273E-4AC8-8D90-2C243B36979B}" srcId="{20631FFA-542D-4F49-8FAD-F65F3493D93C}" destId="{D1D77E37-DF99-4C91-B91A-81DC44ECDF68}" srcOrd="3" destOrd="0" parTransId="{6E2BE1F9-4662-4335-8DA1-431FE923CE03}" sibTransId="{4A93DDE2-F9BB-41FF-AF1F-27452887AFD2}"/>
    <dgm:cxn modelId="{BE28738B-5BD0-44B7-8BAC-83B53945967E}" type="presOf" srcId="{AF7B02DA-CA55-480C-8BB6-119B56CF28A8}" destId="{FF605DBA-6C77-4076-A463-0478C7ADA2BD}" srcOrd="0" destOrd="0" presId="urn:microsoft.com/office/officeart/2018/2/layout/IconCircleList"/>
    <dgm:cxn modelId="{20490EA8-3EA9-4F21-B2BB-AFF642314B15}" type="presOf" srcId="{2245DB05-411E-4DE1-B79A-7F45AE1CC306}" destId="{DF353196-5518-4515-94D3-2891F1C1631D}" srcOrd="0" destOrd="0" presId="urn:microsoft.com/office/officeart/2018/2/layout/IconCircleList"/>
    <dgm:cxn modelId="{C72121A9-1EE0-4A75-8B87-972BE410B5F6}" type="presOf" srcId="{D1D77E37-DF99-4C91-B91A-81DC44ECDF68}" destId="{E34B94B9-3480-4C20-B56D-4F2B5B8D5F7C}" srcOrd="0" destOrd="0" presId="urn:microsoft.com/office/officeart/2018/2/layout/IconCircleList"/>
    <dgm:cxn modelId="{7EC6C2AE-9366-4CBB-A90F-295686D702EB}" srcId="{20631FFA-542D-4F49-8FAD-F65F3493D93C}" destId="{90AF9F16-8766-401E-BF7E-B09303F7968F}" srcOrd="1" destOrd="0" parTransId="{09E268EA-EFFB-4CD1-B508-4F3EA5EFDA28}" sibTransId="{F7245CB0-3A50-4D01-B88C-F20F0CD01C3A}"/>
    <dgm:cxn modelId="{1CE09BB3-5E82-455F-99AF-C3F178FF54BC}" type="presOf" srcId="{F7245CB0-3A50-4D01-B88C-F20F0CD01C3A}" destId="{B36C6ACD-23BB-4CF4-8F5C-97DD44F2B6E5}" srcOrd="0" destOrd="0" presId="urn:microsoft.com/office/officeart/2018/2/layout/IconCircleList"/>
    <dgm:cxn modelId="{0AD769F6-585E-48C9-9A69-6A40CB39A780}" type="presOf" srcId="{90AF9F16-8766-401E-BF7E-B09303F7968F}" destId="{AC11CCE4-A1BF-4076-9A2D-CDAC55D4DBD9}" srcOrd="0" destOrd="0" presId="urn:microsoft.com/office/officeart/2018/2/layout/IconCircleList"/>
    <dgm:cxn modelId="{5B6D9A17-E87C-49C5-AB6F-83DEA8050BFB}" type="presParOf" srcId="{01BAC6E5-863A-4678-A879-256BDABC27DC}" destId="{446EF2F1-C134-4099-BF0A-2FB9000E8547}" srcOrd="0" destOrd="0" presId="urn:microsoft.com/office/officeart/2018/2/layout/IconCircleList"/>
    <dgm:cxn modelId="{6B04AC86-6D27-4B47-BF70-A6303A3F5FD9}" type="presParOf" srcId="{446EF2F1-C134-4099-BF0A-2FB9000E8547}" destId="{5D8D983B-5D08-431B-A2E9-8E8FBBF7E17A}" srcOrd="0" destOrd="0" presId="urn:microsoft.com/office/officeart/2018/2/layout/IconCircleList"/>
    <dgm:cxn modelId="{917C530C-CB28-4E86-A295-145361E9CEB9}" type="presParOf" srcId="{5D8D983B-5D08-431B-A2E9-8E8FBBF7E17A}" destId="{0D44EC68-14AE-4D28-B5EE-39B77678F78F}" srcOrd="0" destOrd="0" presId="urn:microsoft.com/office/officeart/2018/2/layout/IconCircleList"/>
    <dgm:cxn modelId="{C00A442B-C7BF-46A6-938E-74E6425CB03C}" type="presParOf" srcId="{5D8D983B-5D08-431B-A2E9-8E8FBBF7E17A}" destId="{2427E030-4B0D-445D-AF47-D2B1EF58B548}" srcOrd="1" destOrd="0" presId="urn:microsoft.com/office/officeart/2018/2/layout/IconCircleList"/>
    <dgm:cxn modelId="{7F364D7E-49B6-49CD-BA85-471F72EEB537}" type="presParOf" srcId="{5D8D983B-5D08-431B-A2E9-8E8FBBF7E17A}" destId="{4E49D2FC-CD23-4FA5-B938-E21714ED1C6A}" srcOrd="2" destOrd="0" presId="urn:microsoft.com/office/officeart/2018/2/layout/IconCircleList"/>
    <dgm:cxn modelId="{59674FB9-061C-4283-8C4F-CEA740B04833}" type="presParOf" srcId="{5D8D983B-5D08-431B-A2E9-8E8FBBF7E17A}" destId="{FF605DBA-6C77-4076-A463-0478C7ADA2BD}" srcOrd="3" destOrd="0" presId="urn:microsoft.com/office/officeart/2018/2/layout/IconCircleList"/>
    <dgm:cxn modelId="{B60EAC49-7E96-4B13-8FE1-75C193F1B350}" type="presParOf" srcId="{446EF2F1-C134-4099-BF0A-2FB9000E8547}" destId="{DF353196-5518-4515-94D3-2891F1C1631D}" srcOrd="1" destOrd="0" presId="urn:microsoft.com/office/officeart/2018/2/layout/IconCircleList"/>
    <dgm:cxn modelId="{B03F7BE0-CB20-42BD-90BE-D0FBB44B8D95}" type="presParOf" srcId="{446EF2F1-C134-4099-BF0A-2FB9000E8547}" destId="{0076849B-F287-414B-BEA1-88A6C901FDA1}" srcOrd="2" destOrd="0" presId="urn:microsoft.com/office/officeart/2018/2/layout/IconCircleList"/>
    <dgm:cxn modelId="{7D7CEE24-6692-4CAB-9763-F0A2D350A040}" type="presParOf" srcId="{0076849B-F287-414B-BEA1-88A6C901FDA1}" destId="{82D8C3E7-2C6F-4BDC-BFA8-4D2868306A9D}" srcOrd="0" destOrd="0" presId="urn:microsoft.com/office/officeart/2018/2/layout/IconCircleList"/>
    <dgm:cxn modelId="{0FC5A8D7-3533-4A15-92E2-ABF850952288}" type="presParOf" srcId="{0076849B-F287-414B-BEA1-88A6C901FDA1}" destId="{A0DEBA1B-E72B-4874-A71A-A9AA706AB489}" srcOrd="1" destOrd="0" presId="urn:microsoft.com/office/officeart/2018/2/layout/IconCircleList"/>
    <dgm:cxn modelId="{4EBE858D-855B-4391-9FE6-21B83FF00B89}" type="presParOf" srcId="{0076849B-F287-414B-BEA1-88A6C901FDA1}" destId="{379446BC-C311-4BB7-BB0C-761752D5FA0F}" srcOrd="2" destOrd="0" presId="urn:microsoft.com/office/officeart/2018/2/layout/IconCircleList"/>
    <dgm:cxn modelId="{152EC79B-E813-47E1-8854-448CCE9B508C}" type="presParOf" srcId="{0076849B-F287-414B-BEA1-88A6C901FDA1}" destId="{AC11CCE4-A1BF-4076-9A2D-CDAC55D4DBD9}" srcOrd="3" destOrd="0" presId="urn:microsoft.com/office/officeart/2018/2/layout/IconCircleList"/>
    <dgm:cxn modelId="{583FF5B0-44B9-4B46-8C2E-E411F2645A9D}" type="presParOf" srcId="{446EF2F1-C134-4099-BF0A-2FB9000E8547}" destId="{B36C6ACD-23BB-4CF4-8F5C-97DD44F2B6E5}" srcOrd="3" destOrd="0" presId="urn:microsoft.com/office/officeart/2018/2/layout/IconCircleList"/>
    <dgm:cxn modelId="{BC5CFF34-A46D-40C2-AA88-A3B241A66755}" type="presParOf" srcId="{446EF2F1-C134-4099-BF0A-2FB9000E8547}" destId="{D9EA22BC-DFF6-4CE4-84C5-D4C37A761344}" srcOrd="4" destOrd="0" presId="urn:microsoft.com/office/officeart/2018/2/layout/IconCircleList"/>
    <dgm:cxn modelId="{EE9489D5-931A-4A46-8E63-C563F522101A}" type="presParOf" srcId="{D9EA22BC-DFF6-4CE4-84C5-D4C37A761344}" destId="{A789C7D3-24FE-48D9-8D29-99E21E9C2952}" srcOrd="0" destOrd="0" presId="urn:microsoft.com/office/officeart/2018/2/layout/IconCircleList"/>
    <dgm:cxn modelId="{A3A4F5BE-16FC-4AE9-9EF7-FE3E48767A03}" type="presParOf" srcId="{D9EA22BC-DFF6-4CE4-84C5-D4C37A761344}" destId="{E5A92527-644E-4F6B-9262-27CC17612C26}" srcOrd="1" destOrd="0" presId="urn:microsoft.com/office/officeart/2018/2/layout/IconCircleList"/>
    <dgm:cxn modelId="{ADE1DE3B-070C-40FC-BEC5-80EE8E9D7062}" type="presParOf" srcId="{D9EA22BC-DFF6-4CE4-84C5-D4C37A761344}" destId="{ED2A6F8E-764F-4881-98BD-DC5179E5BEE9}" srcOrd="2" destOrd="0" presId="urn:microsoft.com/office/officeart/2018/2/layout/IconCircleList"/>
    <dgm:cxn modelId="{75B1229B-9FC6-44BA-A39C-82049AE76758}" type="presParOf" srcId="{D9EA22BC-DFF6-4CE4-84C5-D4C37A761344}" destId="{6D6C36EB-A11A-447F-8A7B-4A1D5FAC648C}" srcOrd="3" destOrd="0" presId="urn:microsoft.com/office/officeart/2018/2/layout/IconCircleList"/>
    <dgm:cxn modelId="{FDB83B2B-3B62-42C4-9534-522A843743C2}" type="presParOf" srcId="{446EF2F1-C134-4099-BF0A-2FB9000E8547}" destId="{FC6495AD-5C0A-478D-B9D6-34C686B17DC3}" srcOrd="5" destOrd="0" presId="urn:microsoft.com/office/officeart/2018/2/layout/IconCircleList"/>
    <dgm:cxn modelId="{BD3B1ECA-6A18-432E-9EAB-1F8BCFB9CDFC}" type="presParOf" srcId="{446EF2F1-C134-4099-BF0A-2FB9000E8547}" destId="{A92DA637-315A-476B-8AB3-A37539E59D99}" srcOrd="6" destOrd="0" presId="urn:microsoft.com/office/officeart/2018/2/layout/IconCircleList"/>
    <dgm:cxn modelId="{DFBCE83B-6592-43DD-88D7-FD03F5B283DB}" type="presParOf" srcId="{A92DA637-315A-476B-8AB3-A37539E59D99}" destId="{3500606C-EE99-48E9-8E34-65B2F8B58927}" srcOrd="0" destOrd="0" presId="urn:microsoft.com/office/officeart/2018/2/layout/IconCircleList"/>
    <dgm:cxn modelId="{C299390E-2A81-4850-AA71-3422EB614B2B}" type="presParOf" srcId="{A92DA637-315A-476B-8AB3-A37539E59D99}" destId="{9A3857C8-B1C4-4653-AB7D-0778FC396AB7}" srcOrd="1" destOrd="0" presId="urn:microsoft.com/office/officeart/2018/2/layout/IconCircleList"/>
    <dgm:cxn modelId="{E709DF9C-1A79-45A6-B399-24A700502B7A}" type="presParOf" srcId="{A92DA637-315A-476B-8AB3-A37539E59D99}" destId="{1E280711-A116-4CE7-AA55-5758631CA34B}" srcOrd="2" destOrd="0" presId="urn:microsoft.com/office/officeart/2018/2/layout/IconCircleList"/>
    <dgm:cxn modelId="{8EB8C2D6-4B71-4EA8-B550-5C60BBED138B}" type="presParOf" srcId="{A92DA637-315A-476B-8AB3-A37539E59D99}" destId="{E34B94B9-3480-4C20-B56D-4F2B5B8D5F7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44EC68-14AE-4D28-B5EE-39B77678F78F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27E030-4B0D-445D-AF47-D2B1EF58B548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605DBA-6C77-4076-A463-0478C7ADA2BD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0" i="0" kern="1200" baseline="0"/>
            <a:t>Problema: classificação binária de cães e gatos.</a:t>
          </a:r>
          <a:endParaRPr lang="en-US" sz="2200" kern="1200"/>
        </a:p>
      </dsp:txBody>
      <dsp:txXfrm>
        <a:off x="1948202" y="368029"/>
        <a:ext cx="3233964" cy="1371985"/>
      </dsp:txXfrm>
    </dsp:sp>
    <dsp:sp modelId="{82D8C3E7-2C6F-4BDC-BFA8-4D2868306A9D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DEBA1B-E72B-4874-A71A-A9AA706AB489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11CCE4-A1BF-4076-9A2D-CDAC55D4DBD9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0" i="0" kern="1200" baseline="0"/>
            <a:t>Abordagem supervisionada com HOG, LBP e classificadores base (k-NN, DT, NB, MLP).</a:t>
          </a:r>
          <a:endParaRPr lang="en-US" sz="2200" kern="1200"/>
        </a:p>
      </dsp:txBody>
      <dsp:txXfrm>
        <a:off x="7411643" y="368029"/>
        <a:ext cx="3233964" cy="1371985"/>
      </dsp:txXfrm>
    </dsp:sp>
    <dsp:sp modelId="{A789C7D3-24FE-48D9-8D29-99E21E9C2952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A92527-644E-4F6B-9262-27CC17612C26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6C36EB-A11A-447F-8A7B-4A1D5FAC648C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0" i="0" kern="1200" baseline="0"/>
            <a:t>Comitês aplicados: Bagging, Random Forest, Voting e Stacking.</a:t>
          </a:r>
          <a:endParaRPr lang="en-US" sz="2200" kern="1200"/>
        </a:p>
      </dsp:txBody>
      <dsp:txXfrm>
        <a:off x="1948202" y="2452790"/>
        <a:ext cx="3233964" cy="1371985"/>
      </dsp:txXfrm>
    </dsp:sp>
    <dsp:sp modelId="{3500606C-EE99-48E9-8E34-65B2F8B58927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3857C8-B1C4-4653-AB7D-0778FC396AB7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4B94B9-3480-4C20-B56D-4F2B5B8D5F7C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0" i="0" kern="1200" baseline="0"/>
            <a:t>Objetivo: comparar desempenho e generalização.</a:t>
          </a:r>
          <a:endParaRPr lang="en-US" sz="2200" kern="1200"/>
        </a:p>
      </dsp:txBody>
      <dsp:txXfrm>
        <a:off x="7411643" y="2452790"/>
        <a:ext cx="3233964" cy="13719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3CA9E5-A0B5-054A-813B-A8EEE27E5859}" type="datetimeFigureOut">
              <a:rPr lang="es-ES_tradnl" smtClean="0"/>
              <a:t>11/11/25</a:t>
            </a:fld>
            <a:endParaRPr lang="es-ES_tradnl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s-ES_tradnl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804731-88E0-F440-BCDA-8AF9564BD6BA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99061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04731-88E0-F440-BCDA-8AF9564BD6BA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9364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04731-88E0-F440-BCDA-8AF9564BD6BA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83849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04731-88E0-F440-BCDA-8AF9564BD6BA}" type="slidenum">
              <a:rPr lang="es-ES_tradnl" smtClean="0"/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36272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04731-88E0-F440-BCDA-8AF9564BD6BA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6734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04731-88E0-F440-BCDA-8AF9564BD6BA}" type="slidenum">
              <a:rPr lang="es-ES_tradnl" smtClean="0"/>
              <a:t>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385292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04731-88E0-F440-BCDA-8AF9564BD6BA}" type="slidenum">
              <a:rPr lang="es-ES_tradnl" smtClean="0"/>
              <a:t>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348005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04731-88E0-F440-BCDA-8AF9564BD6BA}" type="slidenum">
              <a:rPr lang="es-ES_tradnl" smtClean="0"/>
              <a:t>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42226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04731-88E0-F440-BCDA-8AF9564BD6BA}" type="slidenum">
              <a:rPr lang="es-ES_tradnl" smtClean="0"/>
              <a:t>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812618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04731-88E0-F440-BCDA-8AF9564BD6BA}" type="slidenum">
              <a:rPr lang="es-ES_tradnl" smtClean="0"/>
              <a:t>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157101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04731-88E0-F440-BCDA-8AF9564BD6BA}" type="slidenum">
              <a:rPr lang="es-ES_tradnl" smtClean="0"/>
              <a:t>10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096783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04731-88E0-F440-BCDA-8AF9564BD6BA}" type="slidenum">
              <a:rPr lang="es-ES_tradnl" smtClean="0"/>
              <a:t>11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070719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04731-88E0-F440-BCDA-8AF9564BD6BA}" type="slidenum">
              <a:rPr lang="es-ES_tradnl" smtClean="0"/>
              <a:t>12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067239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04731-88E0-F440-BCDA-8AF9564BD6BA}" type="slidenum">
              <a:rPr lang="es-ES_tradnl" smtClean="0"/>
              <a:t>13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40448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E5538F-262D-C34C-A4DA-BDA63C6034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s-ES_tradn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273479-11DD-11EF-7643-840B5A0498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s-ES_tradnl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F3F584-0411-784E-BB6A-E9F8C7765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B9DB-ABE5-A84D-A937-869D17F4CABF}" type="datetimeFigureOut">
              <a:rPr lang="es-ES_tradnl" smtClean="0"/>
              <a:t>11/11/25</a:t>
            </a:fld>
            <a:endParaRPr lang="es-ES_tradnl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17FD14-08BA-9B28-E03E-2FD6FFE4F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9919DE-E940-A3A5-838D-D88499004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FB0EB-A3FF-8B43-BD86-CD6E4266C00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60184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012B2-E29A-C63A-795B-D1B1592D8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s-ES_tradnl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C28004-D424-8DEB-1ABD-E547A1520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s-ES_tradnl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D250E9-61C2-8A6C-26E3-174D72C3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B9DB-ABE5-A84D-A937-869D17F4CABF}" type="datetimeFigureOut">
              <a:rPr lang="es-ES_tradnl" smtClean="0"/>
              <a:t>11/11/25</a:t>
            </a:fld>
            <a:endParaRPr lang="es-ES_tradnl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075165-DFF5-1008-B97C-C1D536EA0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035732-6CC7-EF06-BCF6-C1F2FC248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FB0EB-A3FF-8B43-BD86-CD6E4266C00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49057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05E77-3EA2-7893-47EA-DDD1B4BB1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s-ES_tradnl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277F72E-8296-9361-FD7D-C6E5EA897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E7CCDC-19DA-1547-0A49-329E2AA2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B9DB-ABE5-A84D-A937-869D17F4CABF}" type="datetimeFigureOut">
              <a:rPr lang="es-ES_tradnl" smtClean="0"/>
              <a:t>11/11/25</a:t>
            </a:fld>
            <a:endParaRPr lang="es-ES_tradnl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C0378-4E09-4A74-B96B-52F62064E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B1F283-E5DC-62DB-18B2-E2966D78A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FB0EB-A3FF-8B43-BD86-CD6E4266C00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74802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B8E7D2-3B33-8A32-A57A-15CBE93B6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s-ES_tradnl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B71470-3700-1DAE-6E8A-FFFD6C33D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s-ES_tradnl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E4212B8-0919-C2D5-9415-78653F2FB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s-ES_tradnl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DC644EF-19AA-6570-66E8-50B722251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B9DB-ABE5-A84D-A937-869D17F4CABF}" type="datetimeFigureOut">
              <a:rPr lang="es-ES_tradnl" smtClean="0"/>
              <a:t>11/11/25</a:t>
            </a:fld>
            <a:endParaRPr lang="es-ES_tradnl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468CDF4-6719-68B8-8212-7D1B8309F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6C9A168-348B-03D3-FAA2-EF54ECBBC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FB0EB-A3FF-8B43-BD86-CD6E4266C00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66967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214F91-FA9D-CEBB-CAC2-D975CB08E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s-ES_tradnl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4C99D9-DCD1-6625-6E68-3C6AD2737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C870DA-30BD-3108-322C-2CEE70591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s-ES_tradnl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18C27CE-54B9-D003-7C37-B718D91CA5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9E50FD0-85FF-862C-E8FD-E2DCEE2219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s-ES_tradnl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AD03881-F89F-2124-7665-073274E88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B9DB-ABE5-A84D-A937-869D17F4CABF}" type="datetimeFigureOut">
              <a:rPr lang="es-ES_tradnl" smtClean="0"/>
              <a:t>11/11/25</a:t>
            </a:fld>
            <a:endParaRPr lang="es-ES_tradnl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13F20AF-727C-3638-C434-B534B82F0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4B30DD2-5440-FF0B-9DB6-7DBF83D79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FB0EB-A3FF-8B43-BD86-CD6E4266C00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06036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65160-1165-5DB5-4DF3-A7D7F1570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s-ES_tradnl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519022-E465-405E-FBFE-B9777A7F0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B9DB-ABE5-A84D-A937-869D17F4CABF}" type="datetimeFigureOut">
              <a:rPr lang="es-ES_tradnl" smtClean="0"/>
              <a:t>11/11/25</a:t>
            </a:fld>
            <a:endParaRPr lang="es-ES_tradnl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A9D29AC-5D4B-DB7F-F72B-9160BAB62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ECA2A36-B30D-41E6-EB2F-32C6953A3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FB0EB-A3FF-8B43-BD86-CD6E4266C00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50523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6A6FC29-447C-D639-2EF5-B0A601923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B9DB-ABE5-A84D-A937-869D17F4CABF}" type="datetimeFigureOut">
              <a:rPr lang="es-ES_tradnl" smtClean="0"/>
              <a:t>11/11/25</a:t>
            </a:fld>
            <a:endParaRPr lang="es-ES_tradnl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DBE1AB4-39B7-2122-AC99-0A35B7D87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16DF96C-ADE0-406C-32CE-0DD481AF5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FB0EB-A3FF-8B43-BD86-CD6E4266C00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87683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871DD3-88D7-BCC3-E6CF-3450CCA5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s-ES_tradnl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B917A-A660-839B-31CA-04F218912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s-ES_tradnl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8949E91-6B6A-D0B1-EF6D-72EFB1E20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FFE51A-8056-330A-E68F-4CDDBE021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B9DB-ABE5-A84D-A937-869D17F4CABF}" type="datetimeFigureOut">
              <a:rPr lang="es-ES_tradnl" smtClean="0"/>
              <a:t>11/11/25</a:t>
            </a:fld>
            <a:endParaRPr lang="es-ES_tradnl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A2F9BC8-60EA-0E05-BD4D-F848DEAF7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D17511-01A4-B367-8522-188A520A1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FB0EB-A3FF-8B43-BD86-CD6E4266C00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33059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A2562E-FC47-DE2D-AFA1-878CDA8C5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s-ES_tradnl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100A87F-4877-878B-F3B8-4C8A945B92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8E8003-80DA-7265-71D9-893C04BD9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B8C05FD-C65C-8A72-9BFB-9DDD7AC0A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B9DB-ABE5-A84D-A937-869D17F4CABF}" type="datetimeFigureOut">
              <a:rPr lang="es-ES_tradnl" smtClean="0"/>
              <a:t>11/11/25</a:t>
            </a:fld>
            <a:endParaRPr lang="es-ES_tradnl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B8DBB00-9B91-1D74-570D-4C1F45602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0F1E1E8-C121-EE4D-A7EE-247D247C4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FB0EB-A3FF-8B43-BD86-CD6E4266C00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57540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A0887-4B6C-81B8-E289-673857012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s-ES_tradnl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EB3E774-F5F8-07F5-01CB-5C413BD86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s-ES_tradnl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D90C61-D684-E223-11A5-00A35D1DF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B9DB-ABE5-A84D-A937-869D17F4CABF}" type="datetimeFigureOut">
              <a:rPr lang="es-ES_tradnl" smtClean="0"/>
              <a:t>11/11/25</a:t>
            </a:fld>
            <a:endParaRPr lang="es-ES_tradnl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0FFCDE-A93F-637F-5792-C44D6A0F8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270BAD-C6E3-570F-72CB-65D54AC31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FB0EB-A3FF-8B43-BD86-CD6E4266C00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65544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ED06B2B-F89C-AE15-3A18-C393DE2C4E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s-ES_tradnl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C0A378A-C118-6DEC-B331-2D78CA404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s-ES_tradnl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1FDFB3-00E6-45A6-7137-C5C11B0B4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B9DB-ABE5-A84D-A937-869D17F4CABF}" type="datetimeFigureOut">
              <a:rPr lang="es-ES_tradnl" smtClean="0"/>
              <a:t>11/11/25</a:t>
            </a:fld>
            <a:endParaRPr lang="es-ES_tradnl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5D3FFE-A950-1AF3-B90F-635C31D75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446FB2-8D62-7CE9-2512-53AFB4562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FB0EB-A3FF-8B43-BD86-CD6E4266C00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44143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AB4D1D8-7C3B-96A6-D316-E1F6FDD47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s-ES_tradnl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CDB520-B2F7-C34E-5647-47DF1126D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s-ES_tradnl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296BB1-3D1D-98A2-CF99-EF83F7BC3B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07B9DB-ABE5-A84D-A937-869D17F4CABF}" type="datetimeFigureOut">
              <a:rPr lang="es-ES_tradnl" smtClean="0"/>
              <a:t>11/11/25</a:t>
            </a:fld>
            <a:endParaRPr lang="es-ES_tradnl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4FABE3-CCF2-1987-2075-4FDABF64FB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65C67C-E9DF-266F-904A-C324BB1F0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AFB0EB-A3FF-8B43-BD86-CD6E4266C00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92957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13" Type="http://schemas.openxmlformats.org/officeDocument/2006/relationships/image" Target="../media/image20.jpg"/><Relationship Id="rId18" Type="http://schemas.openxmlformats.org/officeDocument/2006/relationships/image" Target="../media/image25.jpg"/><Relationship Id="rId3" Type="http://schemas.openxmlformats.org/officeDocument/2006/relationships/image" Target="../media/image10.png"/><Relationship Id="rId7" Type="http://schemas.openxmlformats.org/officeDocument/2006/relationships/image" Target="../media/image14.jpg"/><Relationship Id="rId12" Type="http://schemas.openxmlformats.org/officeDocument/2006/relationships/image" Target="../media/image19.jpg"/><Relationship Id="rId17" Type="http://schemas.openxmlformats.org/officeDocument/2006/relationships/image" Target="../media/image24.jp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3.jpg"/><Relationship Id="rId20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11" Type="http://schemas.openxmlformats.org/officeDocument/2006/relationships/image" Target="../media/image18.jpg"/><Relationship Id="rId5" Type="http://schemas.openxmlformats.org/officeDocument/2006/relationships/image" Target="../media/image12.jpg"/><Relationship Id="rId15" Type="http://schemas.openxmlformats.org/officeDocument/2006/relationships/image" Target="../media/image22.jpg"/><Relationship Id="rId10" Type="http://schemas.openxmlformats.org/officeDocument/2006/relationships/image" Target="../media/image17.jpg"/><Relationship Id="rId19" Type="http://schemas.openxmlformats.org/officeDocument/2006/relationships/image" Target="../media/image26.jpg"/><Relationship Id="rId4" Type="http://schemas.openxmlformats.org/officeDocument/2006/relationships/image" Target="../media/image11.png"/><Relationship Id="rId9" Type="http://schemas.openxmlformats.org/officeDocument/2006/relationships/image" Target="../media/image16.jpg"/><Relationship Id="rId14" Type="http://schemas.openxmlformats.org/officeDocument/2006/relationships/image" Target="../media/image2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2AC888-2B5B-3AD2-089B-48B947A57E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noProof="0" dirty="0"/>
              <a:t>Da Extração de Características à Combinação de Classificadores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D32AAA1-35ED-98A9-12E9-0030F37FA4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noProof="0" dirty="0"/>
              <a:t>Uma Análise Supervisionada de Imagens de Cães e Gatos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C8338CF9-A165-EBEA-4001-707D102F5DDB}"/>
              </a:ext>
            </a:extLst>
          </p:cNvPr>
          <p:cNvSpPr txBox="1">
            <a:spLocks/>
          </p:cNvSpPr>
          <p:nvPr/>
        </p:nvSpPr>
        <p:spPr>
          <a:xfrm>
            <a:off x="1524000" y="5436973"/>
            <a:ext cx="9144000" cy="6487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noProof="0" dirty="0"/>
              <a:t>Gil César Faria – Grupo 8 – Novembro de 2025</a:t>
            </a:r>
          </a:p>
        </p:txBody>
      </p:sp>
    </p:spTree>
    <p:extLst>
      <p:ext uri="{BB962C8B-B14F-4D97-AF65-F5344CB8AC3E}">
        <p14:creationId xmlns:p14="http://schemas.microsoft.com/office/powerpoint/2010/main" val="3630618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A0EFFC-5799-184C-1519-5A0BDEB5C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2AE1CB-1EF2-A695-BD51-73DA3EBC9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S_tradnl" sz="4000" dirty="0" err="1">
                <a:solidFill>
                  <a:srgbClr val="FFFFFF"/>
                </a:solidFill>
              </a:rPr>
              <a:t>Introdução</a:t>
            </a:r>
            <a:endParaRPr lang="es-ES_tradnl" sz="4000" dirty="0">
              <a:solidFill>
                <a:srgbClr val="FFFFFF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D743786-2BEE-B6CA-FF31-63E76ED2D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51BEB339-06E7-C2A4-9BF3-CEE3223E34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087994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24653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D3F24-4BEB-88B5-9C3A-428DC983B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57E29F-9B23-F625-0140-E7A6ED58D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Protocolo e </a:t>
            </a:r>
            <a:r>
              <a:rPr lang="es-ES_tradnl" dirty="0" err="1"/>
              <a:t>Metodologia</a:t>
            </a:r>
            <a:endParaRPr lang="es-ES_tradnl" dirty="0"/>
          </a:p>
        </p:txBody>
      </p:sp>
      <p:pic>
        <p:nvPicPr>
          <p:cNvPr id="6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A7D32DB5-73C6-9CD5-1E07-C21D057634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41664" y="1557422"/>
            <a:ext cx="9508671" cy="4935453"/>
          </a:xfrm>
        </p:spPr>
      </p:pic>
      <p:sp>
        <p:nvSpPr>
          <p:cNvPr id="12" name="Nuvem 11">
            <a:extLst>
              <a:ext uri="{FF2B5EF4-FFF2-40B4-BE49-F238E27FC236}">
                <a16:creationId xmlns:a16="http://schemas.microsoft.com/office/drawing/2014/main" id="{8FEE3E96-1D8D-DBE1-C8ED-B4D29A6AA8F4}"/>
              </a:ext>
            </a:extLst>
          </p:cNvPr>
          <p:cNvSpPr/>
          <p:nvPr/>
        </p:nvSpPr>
        <p:spPr>
          <a:xfrm>
            <a:off x="8794056" y="5012059"/>
            <a:ext cx="1547647" cy="62459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F1 Score</a:t>
            </a:r>
          </a:p>
        </p:txBody>
      </p:sp>
      <p:sp>
        <p:nvSpPr>
          <p:cNvPr id="13" name="Nuvem 12">
            <a:extLst>
              <a:ext uri="{FF2B5EF4-FFF2-40B4-BE49-F238E27FC236}">
                <a16:creationId xmlns:a16="http://schemas.microsoft.com/office/drawing/2014/main" id="{798908A4-B8D4-5F89-90B6-75B2D0FF7B91}"/>
              </a:ext>
            </a:extLst>
          </p:cNvPr>
          <p:cNvSpPr/>
          <p:nvPr/>
        </p:nvSpPr>
        <p:spPr>
          <a:xfrm>
            <a:off x="4423220" y="2499172"/>
            <a:ext cx="1602259" cy="77633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 err="1"/>
              <a:t>Holdout</a:t>
            </a:r>
            <a:r>
              <a:rPr lang="es-ES_tradnl" dirty="0"/>
              <a:t> 80/20</a:t>
            </a:r>
          </a:p>
        </p:txBody>
      </p:sp>
      <p:sp>
        <p:nvSpPr>
          <p:cNvPr id="14" name="Nuvem 13">
            <a:extLst>
              <a:ext uri="{FF2B5EF4-FFF2-40B4-BE49-F238E27FC236}">
                <a16:creationId xmlns:a16="http://schemas.microsoft.com/office/drawing/2014/main" id="{3EB30C41-ADE7-F2C3-BEF4-7B82F9B51C7C}"/>
              </a:ext>
            </a:extLst>
          </p:cNvPr>
          <p:cNvSpPr/>
          <p:nvPr/>
        </p:nvSpPr>
        <p:spPr>
          <a:xfrm>
            <a:off x="4423221" y="5636652"/>
            <a:ext cx="1602259" cy="77633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K-</a:t>
            </a:r>
            <a:r>
              <a:rPr lang="es-ES_tradnl" dirty="0" err="1"/>
              <a:t>Fold</a:t>
            </a:r>
            <a:r>
              <a:rPr lang="es-ES_tradnl" dirty="0"/>
              <a:t> (k=10)</a:t>
            </a:r>
          </a:p>
        </p:txBody>
      </p:sp>
    </p:spTree>
    <p:extLst>
      <p:ext uri="{BB962C8B-B14F-4D97-AF65-F5344CB8AC3E}">
        <p14:creationId xmlns:p14="http://schemas.microsoft.com/office/powerpoint/2010/main" val="3632883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6EA2A-28AD-0D46-7268-A5DDCADAA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4474E6-63A8-DD91-3479-0013A0511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Base de Dados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281125-8846-F755-9CB4-D50FF40CC3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58417" y="3066371"/>
            <a:ext cx="587399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800 imagens (400 cães / 400 gatos).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Raças: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Basset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Hound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Saint Bernard, Birman,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Persian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Variabilidade: iluminação, fundo e foco.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Exemplo visual de cada classe.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Imagem 8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267096E4-2F54-004F-9C6D-FB285F851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0585" y="364490"/>
            <a:ext cx="457200" cy="457200"/>
          </a:xfrm>
          <a:prstGeom prst="rect">
            <a:avLst/>
          </a:prstGeom>
        </p:spPr>
      </p:pic>
      <p:pic>
        <p:nvPicPr>
          <p:cNvPr id="11" name="Imagem 10" descr="Desenho de urso panda&#10;&#10;O conteúdo gerado por IA pode estar incorreto.">
            <a:extLst>
              <a:ext uri="{FF2B5EF4-FFF2-40B4-BE49-F238E27FC236}">
                <a16:creationId xmlns:a16="http://schemas.microsoft.com/office/drawing/2014/main" id="{C0F32137-928A-297E-CAC7-5C654197E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3385" y="364490"/>
            <a:ext cx="457200" cy="457200"/>
          </a:xfrm>
          <a:prstGeom prst="rect">
            <a:avLst/>
          </a:prstGeom>
        </p:spPr>
      </p:pic>
      <p:pic>
        <p:nvPicPr>
          <p:cNvPr id="13" name="Imagem 12" descr="Cachorro deitado de barriga para cima&#10;&#10;O conteúdo gerado por IA pode estar incorreto.">
            <a:extLst>
              <a:ext uri="{FF2B5EF4-FFF2-40B4-BE49-F238E27FC236}">
                <a16:creationId xmlns:a16="http://schemas.microsoft.com/office/drawing/2014/main" id="{22972AFA-0DF2-E108-702E-8240EE9DC5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8037" y="4431708"/>
            <a:ext cx="1058863" cy="1058863"/>
          </a:xfrm>
          <a:prstGeom prst="rect">
            <a:avLst/>
          </a:prstGeom>
        </p:spPr>
      </p:pic>
      <p:pic>
        <p:nvPicPr>
          <p:cNvPr id="15" name="Imagem 14" descr="Cachorro com a língua de fora&#10;&#10;O conteúdo gerado por IA pode estar incorreto.">
            <a:extLst>
              <a:ext uri="{FF2B5EF4-FFF2-40B4-BE49-F238E27FC236}">
                <a16:creationId xmlns:a16="http://schemas.microsoft.com/office/drawing/2014/main" id="{508D0A5E-5150-76A5-67E3-1F84045936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5083" y="3286124"/>
            <a:ext cx="1411817" cy="1058863"/>
          </a:xfrm>
          <a:prstGeom prst="rect">
            <a:avLst/>
          </a:prstGeom>
        </p:spPr>
      </p:pic>
      <p:pic>
        <p:nvPicPr>
          <p:cNvPr id="17" name="Imagem 16" descr="Cachorro sentado no chão em frente a água&#10;&#10;O conteúdo gerado por IA pode estar incorreto.">
            <a:extLst>
              <a:ext uri="{FF2B5EF4-FFF2-40B4-BE49-F238E27FC236}">
                <a16:creationId xmlns:a16="http://schemas.microsoft.com/office/drawing/2014/main" id="{C946685F-50A8-6591-51B0-C1497EE195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92845" y="2459714"/>
            <a:ext cx="1034055" cy="739689"/>
          </a:xfrm>
          <a:prstGeom prst="rect">
            <a:avLst/>
          </a:prstGeom>
        </p:spPr>
      </p:pic>
      <p:pic>
        <p:nvPicPr>
          <p:cNvPr id="19" name="Imagem 18" descr="Cachorro deitado na grama&#10;&#10;O conteúdo gerado por IA pode estar incorreto.">
            <a:extLst>
              <a:ext uri="{FF2B5EF4-FFF2-40B4-BE49-F238E27FC236}">
                <a16:creationId xmlns:a16="http://schemas.microsoft.com/office/drawing/2014/main" id="{83B19D4B-4E57-04FA-4956-2175C9E99F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7016" y="1296193"/>
            <a:ext cx="1589884" cy="1058863"/>
          </a:xfrm>
          <a:prstGeom prst="rect">
            <a:avLst/>
          </a:prstGeom>
        </p:spPr>
      </p:pic>
      <p:pic>
        <p:nvPicPr>
          <p:cNvPr id="21" name="Imagem 20" descr="Cachorro com a língua de fora&#10;&#10;O conteúdo gerado por IA pode estar incorreto.">
            <a:extLst>
              <a:ext uri="{FF2B5EF4-FFF2-40B4-BE49-F238E27FC236}">
                <a16:creationId xmlns:a16="http://schemas.microsoft.com/office/drawing/2014/main" id="{1152886C-D5C0-A190-4962-6A323DD344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7626" y="5898022"/>
            <a:ext cx="1003105" cy="668068"/>
          </a:xfrm>
          <a:prstGeom prst="rect">
            <a:avLst/>
          </a:prstGeom>
        </p:spPr>
      </p:pic>
      <p:pic>
        <p:nvPicPr>
          <p:cNvPr id="23" name="Imagem 22" descr="Cachorro na areia da praia&#10;&#10;O conteúdo gerado por IA pode estar incorreto.">
            <a:extLst>
              <a:ext uri="{FF2B5EF4-FFF2-40B4-BE49-F238E27FC236}">
                <a16:creationId xmlns:a16="http://schemas.microsoft.com/office/drawing/2014/main" id="{175E6B7E-3FD4-79A8-52B1-702D11FE9D2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95248" y="5848335"/>
            <a:ext cx="1037167" cy="777875"/>
          </a:xfrm>
          <a:prstGeom prst="rect">
            <a:avLst/>
          </a:prstGeom>
        </p:spPr>
      </p:pic>
      <p:pic>
        <p:nvPicPr>
          <p:cNvPr id="25" name="Imagem 24" descr="Cachorro com frisbee na boca&#10;&#10;O conteúdo gerado por IA pode estar incorreto.">
            <a:extLst>
              <a:ext uri="{FF2B5EF4-FFF2-40B4-BE49-F238E27FC236}">
                <a16:creationId xmlns:a16="http://schemas.microsoft.com/office/drawing/2014/main" id="{F7153996-1CCE-AAC2-497D-6C11B26E930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86932" y="5722754"/>
            <a:ext cx="1204608" cy="903456"/>
          </a:xfrm>
          <a:prstGeom prst="rect">
            <a:avLst/>
          </a:prstGeom>
        </p:spPr>
      </p:pic>
      <p:pic>
        <p:nvPicPr>
          <p:cNvPr id="27" name="Imagem 26" descr="Cachorro com a língua de fora&#10;&#10;O conteúdo gerado por IA pode estar incorreto.">
            <a:extLst>
              <a:ext uri="{FF2B5EF4-FFF2-40B4-BE49-F238E27FC236}">
                <a16:creationId xmlns:a16="http://schemas.microsoft.com/office/drawing/2014/main" id="{A9126602-204F-84B1-503A-695DF0B046C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46057" y="5831853"/>
            <a:ext cx="769026" cy="769026"/>
          </a:xfrm>
          <a:prstGeom prst="rect">
            <a:avLst/>
          </a:prstGeom>
        </p:spPr>
      </p:pic>
      <p:pic>
        <p:nvPicPr>
          <p:cNvPr id="29" name="Imagem 28" descr="Gato olhando para cima&#10;&#10;O conteúdo gerado por IA pode estar incorreto.">
            <a:extLst>
              <a:ext uri="{FF2B5EF4-FFF2-40B4-BE49-F238E27FC236}">
                <a16:creationId xmlns:a16="http://schemas.microsoft.com/office/drawing/2014/main" id="{588397E5-79B4-CED8-02F3-E3465D3F62B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95863" y="6120455"/>
            <a:ext cx="962177" cy="640810"/>
          </a:xfrm>
          <a:prstGeom prst="rect">
            <a:avLst/>
          </a:prstGeom>
        </p:spPr>
      </p:pic>
      <p:pic>
        <p:nvPicPr>
          <p:cNvPr id="31" name="Imagem 30" descr="Gato deitado na cama&#10;&#10;O conteúdo gerado por IA pode estar incorreto.">
            <a:extLst>
              <a:ext uri="{FF2B5EF4-FFF2-40B4-BE49-F238E27FC236}">
                <a16:creationId xmlns:a16="http://schemas.microsoft.com/office/drawing/2014/main" id="{3F0ED121-D706-117C-A848-3DAB5F65D39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75445" y="6008958"/>
            <a:ext cx="825500" cy="742950"/>
          </a:xfrm>
          <a:prstGeom prst="rect">
            <a:avLst/>
          </a:prstGeom>
        </p:spPr>
      </p:pic>
      <p:pic>
        <p:nvPicPr>
          <p:cNvPr id="33" name="Imagem 32" descr="Gato com a língua para fora&#10;&#10;O conteúdo gerado por IA pode estar incorreto.">
            <a:extLst>
              <a:ext uri="{FF2B5EF4-FFF2-40B4-BE49-F238E27FC236}">
                <a16:creationId xmlns:a16="http://schemas.microsoft.com/office/drawing/2014/main" id="{C2E70741-6626-6285-00AF-0F6052C1FF0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78162" y="5712387"/>
            <a:ext cx="804341" cy="1069602"/>
          </a:xfrm>
          <a:prstGeom prst="rect">
            <a:avLst/>
          </a:prstGeom>
        </p:spPr>
      </p:pic>
      <p:pic>
        <p:nvPicPr>
          <p:cNvPr id="35" name="Imagem 34" descr="Gato em cima de uma superfície branca&#10;&#10;O conteúdo gerado por IA pode estar incorreto.">
            <a:extLst>
              <a:ext uri="{FF2B5EF4-FFF2-40B4-BE49-F238E27FC236}">
                <a16:creationId xmlns:a16="http://schemas.microsoft.com/office/drawing/2014/main" id="{995D2FE8-D645-E52A-F8C1-A85DAA4CFCF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61048" y="6054286"/>
            <a:ext cx="915787" cy="688672"/>
          </a:xfrm>
          <a:prstGeom prst="rect">
            <a:avLst/>
          </a:prstGeom>
        </p:spPr>
      </p:pic>
      <p:pic>
        <p:nvPicPr>
          <p:cNvPr id="37" name="Imagem 36" descr="Gato em cima da grama&#10;&#10;O conteúdo gerado por IA pode estar incorreto.">
            <a:extLst>
              <a:ext uri="{FF2B5EF4-FFF2-40B4-BE49-F238E27FC236}">
                <a16:creationId xmlns:a16="http://schemas.microsoft.com/office/drawing/2014/main" id="{4CC9CDB6-FE73-08FB-1740-DAB0553510B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5876" y="1684172"/>
            <a:ext cx="1034056" cy="775542"/>
          </a:xfrm>
          <a:prstGeom prst="rect">
            <a:avLst/>
          </a:prstGeom>
        </p:spPr>
      </p:pic>
      <p:pic>
        <p:nvPicPr>
          <p:cNvPr id="39" name="Imagem 38" descr="Gato em cima da cabeça&#10;&#10;O conteúdo gerado por IA pode estar incorreto.">
            <a:extLst>
              <a:ext uri="{FF2B5EF4-FFF2-40B4-BE49-F238E27FC236}">
                <a16:creationId xmlns:a16="http://schemas.microsoft.com/office/drawing/2014/main" id="{E18DAAEC-0617-CA38-369F-3161B01983C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1954" y="3778761"/>
            <a:ext cx="1241897" cy="931423"/>
          </a:xfrm>
          <a:prstGeom prst="rect">
            <a:avLst/>
          </a:prstGeom>
        </p:spPr>
      </p:pic>
      <p:pic>
        <p:nvPicPr>
          <p:cNvPr id="41" name="Imagem 40" descr="Gato em cima de uma superfície branca&#10;&#10;O conteúdo gerado por IA pode estar incorreto.">
            <a:extLst>
              <a:ext uri="{FF2B5EF4-FFF2-40B4-BE49-F238E27FC236}">
                <a16:creationId xmlns:a16="http://schemas.microsoft.com/office/drawing/2014/main" id="{AA64862D-46B6-9038-7E22-605FD41C0CF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9249" y="2640993"/>
            <a:ext cx="907309" cy="931423"/>
          </a:xfrm>
          <a:prstGeom prst="rect">
            <a:avLst/>
          </a:prstGeom>
        </p:spPr>
      </p:pic>
      <p:pic>
        <p:nvPicPr>
          <p:cNvPr id="43" name="Imagem 42" descr="Gato em cima de uma superfície verde&#10;&#10;O conteúdo gerado por IA pode estar incorreto.">
            <a:extLst>
              <a:ext uri="{FF2B5EF4-FFF2-40B4-BE49-F238E27FC236}">
                <a16:creationId xmlns:a16="http://schemas.microsoft.com/office/drawing/2014/main" id="{190C8BF1-47D6-36DE-1D81-560CE9C0A14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99249" y="4858425"/>
            <a:ext cx="790618" cy="105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763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D4BA7-B854-152B-8093-6C283BC89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CD49E8-8E4E-DF32-E566-4945AC12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685"/>
            <a:ext cx="10515600" cy="1325563"/>
          </a:xfrm>
        </p:spPr>
        <p:txBody>
          <a:bodyPr/>
          <a:lstStyle/>
          <a:p>
            <a:r>
              <a:rPr lang="es-ES_tradnl" dirty="0" err="1"/>
              <a:t>Pré-processamento</a:t>
            </a:r>
            <a:endParaRPr lang="es-ES_tradnl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2DEF0A-13F4-A8E5-8778-F123E65D33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4314" y="5443143"/>
            <a:ext cx="588168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400" dirty="0">
                <a:latin typeface="Arial" panose="020B0604020202020204" pitchFamily="34" charset="0"/>
              </a:rPr>
              <a:t>LBP: Resolução/Raio/Pontos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400" dirty="0">
                <a:solidFill>
                  <a:srgbClr val="000000"/>
                </a:solidFill>
                <a:latin typeface="Arial" panose="020B0604020202020204" pitchFamily="34" charset="0"/>
              </a:rPr>
              <a:t>HOG: Resolução/Pixels per </a:t>
            </a:r>
            <a:r>
              <a:rPr lang="pt-BR" altLang="pt-BR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Cell</a:t>
            </a:r>
            <a:r>
              <a:rPr lang="pt-BR" altLang="pt-BR" sz="1400" dirty="0">
                <a:solidFill>
                  <a:srgbClr val="000000"/>
                </a:solidFill>
                <a:latin typeface="Arial" panose="020B0604020202020204" pitchFamily="34" charset="0"/>
              </a:rPr>
              <a:t>/</a:t>
            </a:r>
            <a:r>
              <a:rPr lang="pt-BR" altLang="pt-BR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Cells</a:t>
            </a:r>
            <a:r>
              <a:rPr lang="pt-BR" altLang="pt-BR" sz="1400" dirty="0">
                <a:solidFill>
                  <a:srgbClr val="000000"/>
                </a:solidFill>
                <a:latin typeface="Arial" panose="020B0604020202020204" pitchFamily="34" charset="0"/>
              </a:rPr>
              <a:t> per Block/</a:t>
            </a:r>
            <a:r>
              <a:rPr lang="pt-BR" altLang="pt-BR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Orientations</a:t>
            </a:r>
            <a:r>
              <a:rPr lang="pt-BR" altLang="pt-BR" sz="1400" dirty="0">
                <a:solidFill>
                  <a:srgbClr val="000000"/>
                </a:solidFill>
                <a:latin typeface="Arial" panose="020B0604020202020204" pitchFamily="34" charset="0"/>
              </a:rPr>
              <a:t>/PCA</a:t>
            </a:r>
          </a:p>
        </p:txBody>
      </p:sp>
      <p:pic>
        <p:nvPicPr>
          <p:cNvPr id="5" name="Imagem 4" descr="Desenho de uma janela&#10;&#10;O conteúdo gerado por IA pode estar incorreto.">
            <a:extLst>
              <a:ext uri="{FF2B5EF4-FFF2-40B4-BE49-F238E27FC236}">
                <a16:creationId xmlns:a16="http://schemas.microsoft.com/office/drawing/2014/main" id="{908D7427-6678-FAB7-6388-A237A8619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5200" y="413524"/>
            <a:ext cx="457200" cy="457200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DCFD0352-64A6-2670-D238-B61F3015C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4997" y="413524"/>
            <a:ext cx="457200" cy="457200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81EEB0C8-1FC5-F3B8-558C-9363F8A2DC6B}"/>
              </a:ext>
            </a:extLst>
          </p:cNvPr>
          <p:cNvSpPr txBox="1"/>
          <p:nvPr/>
        </p:nvSpPr>
        <p:spPr>
          <a:xfrm>
            <a:off x="11685402" y="365125"/>
            <a:ext cx="5569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500" b="1" i="0" dirty="0">
                <a:solidFill>
                  <a:srgbClr val="000000"/>
                </a:solidFill>
                <a:effectLst/>
                <a:latin typeface="Helvetica" pitchFamily="2" charset="0"/>
              </a:rPr>
              <a:t>[</a:t>
            </a:r>
            <a:endParaRPr lang="pt-BR" sz="500" dirty="0"/>
          </a:p>
          <a:p>
            <a:pPr algn="l">
              <a:buNone/>
            </a:pPr>
            <a:r>
              <a:rPr lang="pt-BR" sz="500" b="1" i="0" dirty="0">
                <a:solidFill>
                  <a:srgbClr val="000000"/>
                </a:solidFill>
                <a:effectLst/>
                <a:latin typeface="Helvetica" pitchFamily="2" charset="0"/>
              </a:rPr>
              <a:t>0.98390, 0.29239,</a:t>
            </a:r>
          </a:p>
          <a:p>
            <a:pPr algn="l">
              <a:buNone/>
            </a:pPr>
            <a:r>
              <a:rPr lang="pt-BR" sz="500" b="1" i="0" dirty="0">
                <a:solidFill>
                  <a:srgbClr val="000000"/>
                </a:solidFill>
                <a:effectLst/>
                <a:latin typeface="Helvetica" pitchFamily="2" charset="0"/>
              </a:rPr>
              <a:t>..., </a:t>
            </a:r>
          </a:p>
          <a:p>
            <a:pPr algn="l">
              <a:buNone/>
            </a:pPr>
            <a:r>
              <a:rPr lang="pt-BR" sz="500" b="1" i="0" dirty="0">
                <a:solidFill>
                  <a:srgbClr val="000000"/>
                </a:solidFill>
                <a:effectLst/>
                <a:latin typeface="Helvetica" pitchFamily="2" charset="0"/>
              </a:rPr>
              <a:t>0.23676</a:t>
            </a:r>
          </a:p>
          <a:p>
            <a:pPr algn="l">
              <a:buNone/>
            </a:pPr>
            <a:r>
              <a:rPr lang="pt-BR" sz="500" b="1" i="0" dirty="0">
                <a:solidFill>
                  <a:srgbClr val="000000"/>
                </a:solidFill>
                <a:effectLst/>
                <a:latin typeface="Helvetica" pitchFamily="2" charset="0"/>
              </a:rPr>
              <a:t>]</a:t>
            </a:r>
          </a:p>
        </p:txBody>
      </p:sp>
      <p:pic>
        <p:nvPicPr>
          <p:cNvPr id="18" name="Imagem 17" descr="Tabela&#10;&#10;O conteúdo gerado por IA pode estar incorreto.">
            <a:extLst>
              <a:ext uri="{FF2B5EF4-FFF2-40B4-BE49-F238E27FC236}">
                <a16:creationId xmlns:a16="http://schemas.microsoft.com/office/drawing/2014/main" id="{8C46B9DF-A609-37B9-1E85-30190103D4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9490" y="3529013"/>
            <a:ext cx="5952509" cy="3341536"/>
          </a:xfrm>
          <a:prstGeom prst="rect">
            <a:avLst/>
          </a:prstGeom>
        </p:spPr>
      </p:pic>
      <p:pic>
        <p:nvPicPr>
          <p:cNvPr id="20" name="Imagem 19" descr="Tabela&#10;&#10;O conteúdo gerado por IA pode estar incorreto.">
            <a:extLst>
              <a:ext uri="{FF2B5EF4-FFF2-40B4-BE49-F238E27FC236}">
                <a16:creationId xmlns:a16="http://schemas.microsoft.com/office/drawing/2014/main" id="{803EC7D4-5D30-27D7-08E7-D9F096D615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314" y="1602957"/>
            <a:ext cx="5949790" cy="3361821"/>
          </a:xfrm>
          <a:prstGeom prst="rect">
            <a:avLst/>
          </a:prstGeom>
        </p:spPr>
      </p:pic>
      <p:sp>
        <p:nvSpPr>
          <p:cNvPr id="21" name="Rectangle 1">
            <a:extLst>
              <a:ext uri="{FF2B5EF4-FFF2-40B4-BE49-F238E27FC236}">
                <a16:creationId xmlns:a16="http://schemas.microsoft.com/office/drawing/2014/main" id="{60557936-9903-CDB3-7B47-C4978C16D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4289" y="1953522"/>
            <a:ext cx="534291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altLang="pt-BR" sz="16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Variabilidade de atributos e características do extrator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Identificar melhor extrator/configurações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Aplicação PCA a 95%</a:t>
            </a:r>
            <a:endParaRPr lang="pt-BR" altLang="pt-BR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282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F0B51-E286-E107-728F-DAF4D9CD0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C9714A-694C-F4F6-1B2C-9E56FC1F4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K-NN</a:t>
            </a:r>
            <a:endParaRPr lang="es-ES_tradnl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934CF1-D40D-C69D-CC0A-C1819F9A23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1365" y="1929904"/>
            <a:ext cx="259411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GridSearch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</a:t>
            </a:r>
            <a:endParaRPr lang="pt-BR" altLang="pt-BR" sz="18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5" name="Imagem 4" descr="Ícone&#10;&#10;O conteúdo gerado por IA pode estar incorreto.">
            <a:extLst>
              <a:ext uri="{FF2B5EF4-FFF2-40B4-BE49-F238E27FC236}">
                <a16:creationId xmlns:a16="http://schemas.microsoft.com/office/drawing/2014/main" id="{14924FC9-C666-DC7F-F207-4831D58F0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3800" y="365125"/>
            <a:ext cx="457200" cy="4572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71332DE-4A77-660E-500F-1DEBA3AFE480}"/>
              </a:ext>
            </a:extLst>
          </p:cNvPr>
          <p:cNvSpPr txBox="1"/>
          <p:nvPr/>
        </p:nvSpPr>
        <p:spPr>
          <a:xfrm>
            <a:off x="321365" y="2725904"/>
            <a:ext cx="55526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pt-B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n_neighbors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': [1, 3, 5, 7, 9, 11, 13, 15],</a:t>
            </a:r>
          </a:p>
          <a:p>
            <a:pPr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pt-B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metric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': ['</a:t>
            </a:r>
            <a:r>
              <a:rPr lang="pt-B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euclidean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pt-B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manhattan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pt-B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chebyshev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'],</a:t>
            </a:r>
          </a:p>
          <a:p>
            <a:pPr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pt-B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': ['</a:t>
            </a:r>
            <a:r>
              <a:rPr lang="pt-B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uniform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pt-B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distance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']</a:t>
            </a:r>
          </a:p>
        </p:txBody>
      </p:sp>
      <p:pic>
        <p:nvPicPr>
          <p:cNvPr id="14" name="Imagem 13" descr="Tabela&#10;&#10;O conteúdo gerado por IA pode estar incorreto.">
            <a:extLst>
              <a:ext uri="{FF2B5EF4-FFF2-40B4-BE49-F238E27FC236}">
                <a16:creationId xmlns:a16="http://schemas.microsoft.com/office/drawing/2014/main" id="{40DF4F72-F9E7-D44E-516D-7F4D7AC96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4499784"/>
            <a:ext cx="7772400" cy="2358216"/>
          </a:xfrm>
          <a:prstGeom prst="rect">
            <a:avLst/>
          </a:prstGeom>
        </p:spPr>
      </p:pic>
      <p:pic>
        <p:nvPicPr>
          <p:cNvPr id="20" name="Imagem 19" descr="Texto&#10;&#10;O conteúdo gerado por IA pode estar incorreto.">
            <a:extLst>
              <a:ext uri="{FF2B5EF4-FFF2-40B4-BE49-F238E27FC236}">
                <a16:creationId xmlns:a16="http://schemas.microsoft.com/office/drawing/2014/main" id="{B93D86C6-CA65-228B-C9AF-D5F1F40FEE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0746" y="1615144"/>
            <a:ext cx="6082471" cy="2492969"/>
          </a:xfrm>
          <a:prstGeom prst="rect">
            <a:avLst/>
          </a:prstGeom>
        </p:spPr>
      </p:pic>
      <p:graphicFrame>
        <p:nvGraphicFramePr>
          <p:cNvPr id="27" name="Tabela 26">
            <a:extLst>
              <a:ext uri="{FF2B5EF4-FFF2-40B4-BE49-F238E27FC236}">
                <a16:creationId xmlns:a16="http://schemas.microsoft.com/office/drawing/2014/main" id="{30850B38-6191-E9CD-E51A-1A55CE109B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470696"/>
              </p:ext>
            </p:extLst>
          </p:nvPr>
        </p:nvGraphicFramePr>
        <p:xfrm>
          <a:off x="1294295" y="4210541"/>
          <a:ext cx="1803400" cy="5784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3400">
                  <a:extLst>
                    <a:ext uri="{9D8B030D-6E8A-4147-A177-3AD203B41FA5}">
                      <a16:colId xmlns:a16="http://schemas.microsoft.com/office/drawing/2014/main" val="60862718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Friedman_P_Valor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1305828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               0,6153355838888000 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17297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7632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C2075-FE39-0588-6C7F-47446BD32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7CCBA9-C0BE-8F89-9AA0-DBACAA3D1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_tradnl" dirty="0" err="1"/>
              <a:t>Decision</a:t>
            </a:r>
            <a:r>
              <a:rPr lang="es-ES_tradnl" dirty="0"/>
              <a:t> </a:t>
            </a:r>
            <a:r>
              <a:rPr lang="es-ES_tradnl" dirty="0" err="1"/>
              <a:t>Tree</a:t>
            </a:r>
            <a:endParaRPr lang="es-ES_tradnl" dirty="0"/>
          </a:p>
        </p:txBody>
      </p:sp>
      <p:pic>
        <p:nvPicPr>
          <p:cNvPr id="5" name="Imagem 4" descr="Ícone&#10;&#10;O conteúdo gerado por IA pode estar incorreto.">
            <a:extLst>
              <a:ext uri="{FF2B5EF4-FFF2-40B4-BE49-F238E27FC236}">
                <a16:creationId xmlns:a16="http://schemas.microsoft.com/office/drawing/2014/main" id="{20BA46BC-BA5D-635A-2C6C-5FC335957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3800" y="365125"/>
            <a:ext cx="523654" cy="4572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E771CC67-8B51-51E0-DED2-83BFB8B5E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365" y="1929904"/>
            <a:ext cx="259411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GridSearch</a:t>
            </a:r>
            <a:r>
              <a:rPr lang="pt-BR" altLang="pt-BR" sz="1800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D44F96D-A7E7-ED58-8CE9-E0A0F8786526}"/>
              </a:ext>
            </a:extLst>
          </p:cNvPr>
          <p:cNvSpPr txBox="1"/>
          <p:nvPr/>
        </p:nvSpPr>
        <p:spPr>
          <a:xfrm>
            <a:off x="321365" y="2725904"/>
            <a:ext cx="55526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pt-B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criterion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': ['</a:t>
            </a:r>
            <a:r>
              <a:rPr lang="pt-B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gini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pt-B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entropy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pt-B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log_loss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'],</a:t>
            </a:r>
          </a:p>
          <a:p>
            <a:pPr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pt-B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max_depth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’: [2,3,4,5,6,7,8,9,10,11,12,13,14,15]</a:t>
            </a:r>
          </a:p>
        </p:txBody>
      </p:sp>
      <p:pic>
        <p:nvPicPr>
          <p:cNvPr id="10" name="Imagem 9" descr="Tabela&#10;&#10;O conteúdo gerado por IA pode estar incorreto.">
            <a:extLst>
              <a:ext uri="{FF2B5EF4-FFF2-40B4-BE49-F238E27FC236}">
                <a16:creationId xmlns:a16="http://schemas.microsoft.com/office/drawing/2014/main" id="{DF375B2B-2ABB-8E9A-3142-129205026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4437688"/>
            <a:ext cx="7772400" cy="2420312"/>
          </a:xfrm>
          <a:prstGeom prst="rect">
            <a:avLst/>
          </a:prstGeom>
        </p:spPr>
      </p:pic>
      <p:pic>
        <p:nvPicPr>
          <p:cNvPr id="12" name="Imagem 11" descr="Tabela&#10;&#10;O conteúdo gerado por IA pode estar incorreto.">
            <a:extLst>
              <a:ext uri="{FF2B5EF4-FFF2-40B4-BE49-F238E27FC236}">
                <a16:creationId xmlns:a16="http://schemas.microsoft.com/office/drawing/2014/main" id="{3ED9920D-10AC-3911-61CF-737251D9BD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9709" y="1727418"/>
            <a:ext cx="4667745" cy="2420312"/>
          </a:xfrm>
          <a:prstGeom prst="rect">
            <a:avLst/>
          </a:prstGeom>
        </p:spPr>
      </p:pic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4F549E7A-CA5B-09B9-92DA-D30F285939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636733"/>
              </p:ext>
            </p:extLst>
          </p:nvPr>
        </p:nvGraphicFramePr>
        <p:xfrm>
          <a:off x="1370785" y="4284340"/>
          <a:ext cx="1803400" cy="5784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3400">
                  <a:extLst>
                    <a:ext uri="{9D8B030D-6E8A-4147-A177-3AD203B41FA5}">
                      <a16:colId xmlns:a16="http://schemas.microsoft.com/office/drawing/2014/main" val="3170099119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Friedman_P_Valor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7000475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               0,7160981986368600 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76206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249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081A8-93FD-0A1A-273B-160405506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75E3DC-F95B-2476-C69A-6E8CF832B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Naive</a:t>
            </a:r>
            <a:r>
              <a:rPr lang="es-ES_tradnl" dirty="0"/>
              <a:t> Bayes</a:t>
            </a:r>
          </a:p>
        </p:txBody>
      </p:sp>
      <p:pic>
        <p:nvPicPr>
          <p:cNvPr id="5" name="Imagem 4" descr="Ícone&#10;&#10;O conteúdo gerado por IA pode estar incorreto.">
            <a:extLst>
              <a:ext uri="{FF2B5EF4-FFF2-40B4-BE49-F238E27FC236}">
                <a16:creationId xmlns:a16="http://schemas.microsoft.com/office/drawing/2014/main" id="{BB612E7C-DE0D-8DB6-E1EE-AC4055B74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3800" y="365125"/>
            <a:ext cx="581087" cy="45720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F514499C-AE2B-ACEB-82C9-1E9A11CBA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365" y="1929904"/>
            <a:ext cx="259411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GridSearch</a:t>
            </a:r>
            <a:r>
              <a:rPr lang="pt-BR" altLang="pt-BR" sz="1800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89C1E4D-5DEA-DDA6-5E84-0CE4D8F96AE6}"/>
              </a:ext>
            </a:extLst>
          </p:cNvPr>
          <p:cNvSpPr txBox="1"/>
          <p:nvPr/>
        </p:nvSpPr>
        <p:spPr>
          <a:xfrm>
            <a:off x="321365" y="2725904"/>
            <a:ext cx="56686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pt-B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': [</a:t>
            </a:r>
            <a:r>
              <a:rPr lang="pt-B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GaussianNB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MultinomialNB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ComplementNB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96D09F3C-FEE2-84A7-A7A1-0DCC92178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2487" y="3662485"/>
            <a:ext cx="7772400" cy="894008"/>
          </a:xfrm>
          <a:prstGeom prst="rect">
            <a:avLst/>
          </a:prstGeom>
        </p:spPr>
      </p:pic>
      <p:pic>
        <p:nvPicPr>
          <p:cNvPr id="12" name="Imagem 11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DF4A9F00-C9E0-C0E5-1B1C-FC63FD31B9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187" y="2253069"/>
            <a:ext cx="5473700" cy="127000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C85BA1B0-6D39-1DCE-B8E3-91952F49E0B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6521"/>
          <a:stretch>
            <a:fillRect/>
          </a:stretch>
        </p:blipFill>
        <p:spPr>
          <a:xfrm>
            <a:off x="4162487" y="5494866"/>
            <a:ext cx="4933874" cy="879622"/>
          </a:xfrm>
          <a:prstGeom prst="rect">
            <a:avLst/>
          </a:prstGeom>
        </p:spPr>
      </p:pic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FDB938A7-1CCC-3C3B-ABCA-B5ABDAD430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563026"/>
              </p:ext>
            </p:extLst>
          </p:nvPr>
        </p:nvGraphicFramePr>
        <p:xfrm>
          <a:off x="1618421" y="5645434"/>
          <a:ext cx="1803400" cy="5784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3400">
                  <a:extLst>
                    <a:ext uri="{9D8B030D-6E8A-4147-A177-3AD203B41FA5}">
                      <a16:colId xmlns:a16="http://schemas.microsoft.com/office/drawing/2014/main" val="1645828269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Friedman_P_Valor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15489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               0,0000056987208693 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98346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3106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A2FEC-45E5-C5DE-1A69-36C6F2EB1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13E1BB-032D-74EB-17BF-BC09B6AB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Rede Neural MLP</a:t>
            </a:r>
          </a:p>
        </p:txBody>
      </p:sp>
      <p:pic>
        <p:nvPicPr>
          <p:cNvPr id="5" name="Imagem 4" descr="Ícone&#10;&#10;O conteúdo gerado por IA pode estar incorreto.">
            <a:extLst>
              <a:ext uri="{FF2B5EF4-FFF2-40B4-BE49-F238E27FC236}">
                <a16:creationId xmlns:a16="http://schemas.microsoft.com/office/drawing/2014/main" id="{C9D5B4C3-4703-E986-E475-E1A1E0D2F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3800" y="365125"/>
            <a:ext cx="457200" cy="457200"/>
          </a:xfrm>
          <a:prstGeom prst="rect">
            <a:avLst/>
          </a:prstGeom>
        </p:spPr>
      </p:pic>
      <p:pic>
        <p:nvPicPr>
          <p:cNvPr id="14" name="Imagem 13" descr="Tabela&#10;&#10;O conteúdo gerado por IA pode estar incorreto.">
            <a:extLst>
              <a:ext uri="{FF2B5EF4-FFF2-40B4-BE49-F238E27FC236}">
                <a16:creationId xmlns:a16="http://schemas.microsoft.com/office/drawing/2014/main" id="{E2E04D39-092C-D989-5E9C-3ACB957260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4507796"/>
            <a:ext cx="7772400" cy="2350204"/>
          </a:xfrm>
          <a:prstGeom prst="rect">
            <a:avLst/>
          </a:prstGeom>
        </p:spPr>
      </p:pic>
      <p:pic>
        <p:nvPicPr>
          <p:cNvPr id="16" name="Imagem 15" descr="Texto&#10;&#10;O conteúdo gerado por IA pode estar incorreto.">
            <a:extLst>
              <a:ext uri="{FF2B5EF4-FFF2-40B4-BE49-F238E27FC236}">
                <a16:creationId xmlns:a16="http://schemas.microsoft.com/office/drawing/2014/main" id="{FC8A6D85-D11A-AA9F-BB0F-61544BF0B5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3441" y="1214874"/>
            <a:ext cx="7628559" cy="1940085"/>
          </a:xfrm>
          <a:prstGeom prst="rect">
            <a:avLst/>
          </a:prstGeom>
        </p:spPr>
      </p:pic>
      <p:pic>
        <p:nvPicPr>
          <p:cNvPr id="18" name="Imagem 17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5C3D54BC-E8EF-75B0-8760-5DD285F2F5F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2294" r="-1"/>
          <a:stretch>
            <a:fillRect/>
          </a:stretch>
        </p:blipFill>
        <p:spPr>
          <a:xfrm>
            <a:off x="2494946" y="4205052"/>
            <a:ext cx="1526795" cy="2621758"/>
          </a:xfrm>
          <a:prstGeom prst="rect">
            <a:avLst/>
          </a:prstGeom>
        </p:spPr>
      </p:pic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374CFA40-14F1-F42B-7EAE-A7AADB5682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507104"/>
              </p:ext>
            </p:extLst>
          </p:nvPr>
        </p:nvGraphicFramePr>
        <p:xfrm>
          <a:off x="293687" y="4682379"/>
          <a:ext cx="1803400" cy="5784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3400">
                  <a:extLst>
                    <a:ext uri="{9D8B030D-6E8A-4147-A177-3AD203B41FA5}">
                      <a16:colId xmlns:a16="http://schemas.microsoft.com/office/drawing/2014/main" val="3119436340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u="none" strike="noStrike" dirty="0" err="1">
                          <a:effectLst/>
                        </a:rPr>
                        <a:t>Friedman_P_Valor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6164607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               0,0001937073329703 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69696441"/>
                  </a:ext>
                </a:extLst>
              </a:tr>
            </a:tbl>
          </a:graphicData>
        </a:graphic>
      </p:graphicFrame>
      <p:sp>
        <p:nvSpPr>
          <p:cNvPr id="20" name="Rectangle 1">
            <a:extLst>
              <a:ext uri="{FF2B5EF4-FFF2-40B4-BE49-F238E27FC236}">
                <a16:creationId xmlns:a16="http://schemas.microsoft.com/office/drawing/2014/main" id="{A4794336-08DF-1FF0-F365-41D524301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99" y="2099658"/>
            <a:ext cx="259411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GridSearch</a:t>
            </a:r>
            <a:r>
              <a:rPr lang="pt-BR" altLang="pt-BR" sz="1800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CB8A29F-02E3-4358-CFAC-1DCF96547B7C}"/>
              </a:ext>
            </a:extLst>
          </p:cNvPr>
          <p:cNvSpPr txBox="1"/>
          <p:nvPr/>
        </p:nvSpPr>
        <p:spPr>
          <a:xfrm>
            <a:off x="97460" y="2849967"/>
            <a:ext cx="6093618" cy="1358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pt-B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hidden_layer_sizes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': [ </a:t>
            </a:r>
          </a:p>
          <a:p>
            <a:pPr>
              <a:lnSpc>
                <a:spcPts val="1350"/>
              </a:lnSpc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(50), (100), (150), </a:t>
            </a:r>
          </a:p>
          <a:p>
            <a:pPr>
              <a:lnSpc>
                <a:spcPts val="1350"/>
              </a:lnSpc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(100, 50), (150, 75), (200, 100), </a:t>
            </a:r>
          </a:p>
          <a:p>
            <a:pPr>
              <a:lnSpc>
                <a:spcPts val="1350"/>
              </a:lnSpc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(200, 75, 25), (200, 100, 50) ],</a:t>
            </a:r>
          </a:p>
          <a:p>
            <a:pPr>
              <a:lnSpc>
                <a:spcPts val="1350"/>
              </a:lnSpc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pt-B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activation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': ['</a:t>
            </a:r>
            <a:r>
              <a:rPr lang="pt-B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pt-B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logistic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pt-B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tanh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pt-B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relu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'],</a:t>
            </a:r>
          </a:p>
          <a:p>
            <a:pPr>
              <a:lnSpc>
                <a:spcPts val="1350"/>
              </a:lnSpc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'solver': ['adam', '</a:t>
            </a:r>
            <a:r>
              <a:rPr lang="pt-B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sgd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'],</a:t>
            </a:r>
          </a:p>
          <a:p>
            <a:pPr>
              <a:lnSpc>
                <a:spcPts val="1350"/>
              </a:lnSpc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pt-B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learning_rate_init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': [0.001, 0.005, 0.01],</a:t>
            </a:r>
          </a:p>
        </p:txBody>
      </p:sp>
    </p:spTree>
    <p:extLst>
      <p:ext uri="{BB962C8B-B14F-4D97-AF65-F5344CB8AC3E}">
        <p14:creationId xmlns:p14="http://schemas.microsoft.com/office/powerpoint/2010/main" val="806363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A9C28-E3BF-298D-3678-5779926F0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462BFF-E113-65FC-9CFE-BCE1DAD11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Bagging</a:t>
            </a:r>
            <a:r>
              <a:rPr lang="es-ES_tradnl" dirty="0"/>
              <a:t> e </a:t>
            </a:r>
            <a:r>
              <a:rPr lang="es-ES_tradnl" dirty="0" err="1"/>
              <a:t>Random</a:t>
            </a:r>
            <a:r>
              <a:rPr lang="es-ES_tradnl" dirty="0"/>
              <a:t> Forest</a:t>
            </a:r>
          </a:p>
        </p:txBody>
      </p:sp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91E5F463-22AE-1FB1-0BB1-EB691260D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42" y="593725"/>
            <a:ext cx="527775" cy="457200"/>
          </a:xfrm>
          <a:prstGeom prst="rect">
            <a:avLst/>
          </a:prstGeom>
        </p:spPr>
      </p:pic>
      <p:pic>
        <p:nvPicPr>
          <p:cNvPr id="11" name="Imagem 10" descr="Ícone&#10;&#10;O conteúdo gerado por IA pode estar incorreto.">
            <a:extLst>
              <a:ext uri="{FF2B5EF4-FFF2-40B4-BE49-F238E27FC236}">
                <a16:creationId xmlns:a16="http://schemas.microsoft.com/office/drawing/2014/main" id="{799A7081-4E6D-7665-04B1-65B008142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64196" y="365125"/>
            <a:ext cx="327804" cy="457200"/>
          </a:xfrm>
          <a:prstGeom prst="rect">
            <a:avLst/>
          </a:prstGeom>
        </p:spPr>
      </p:pic>
      <p:pic>
        <p:nvPicPr>
          <p:cNvPr id="14" name="Imagem 13" descr="Tabela&#10;&#10;O conteúdo gerado por IA pode estar incorreto.">
            <a:extLst>
              <a:ext uri="{FF2B5EF4-FFF2-40B4-BE49-F238E27FC236}">
                <a16:creationId xmlns:a16="http://schemas.microsoft.com/office/drawing/2014/main" id="{3A1A02CC-E3C5-94DD-7E78-44E36EEFF1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42" y="1511818"/>
            <a:ext cx="5505421" cy="2770188"/>
          </a:xfrm>
          <a:prstGeom prst="rect">
            <a:avLst/>
          </a:prstGeom>
        </p:spPr>
      </p:pic>
      <p:pic>
        <p:nvPicPr>
          <p:cNvPr id="16" name="Imagem 15" descr="Tabela&#10;&#10;O conteúdo gerado por IA pode estar incorreto.">
            <a:extLst>
              <a:ext uri="{FF2B5EF4-FFF2-40B4-BE49-F238E27FC236}">
                <a16:creationId xmlns:a16="http://schemas.microsoft.com/office/drawing/2014/main" id="{F3206117-6301-504F-14CF-990E015738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498381"/>
            <a:ext cx="6082159" cy="2338760"/>
          </a:xfrm>
          <a:prstGeom prst="rect">
            <a:avLst/>
          </a:prstGeom>
        </p:spPr>
      </p:pic>
      <p:pic>
        <p:nvPicPr>
          <p:cNvPr id="18" name="Imagem 17" descr="Tabela&#10;&#10;O conteúdo gerado por IA pode estar incorreto.">
            <a:extLst>
              <a:ext uri="{FF2B5EF4-FFF2-40B4-BE49-F238E27FC236}">
                <a16:creationId xmlns:a16="http://schemas.microsoft.com/office/drawing/2014/main" id="{D8FFABCD-F3CC-06E6-DFFD-FEE219BAB6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9822" y="4498381"/>
            <a:ext cx="5812178" cy="2229870"/>
          </a:xfrm>
          <a:prstGeom prst="rect">
            <a:avLst/>
          </a:prstGeom>
        </p:spPr>
      </p:pic>
      <p:pic>
        <p:nvPicPr>
          <p:cNvPr id="20" name="Imagem 19" descr="Tabela&#10;&#10;O conteúdo gerado por IA pode estar incorreto.">
            <a:extLst>
              <a:ext uri="{FF2B5EF4-FFF2-40B4-BE49-F238E27FC236}">
                <a16:creationId xmlns:a16="http://schemas.microsoft.com/office/drawing/2014/main" id="{F890E616-E19E-8CB6-9B51-339F718902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8371" y="1594886"/>
            <a:ext cx="5167312" cy="269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368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7366D-F00F-B119-0380-ECCCE3769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D16B70-FD13-57A7-7E3F-5ED13DCD9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Voting</a:t>
            </a:r>
            <a:r>
              <a:rPr lang="es-ES_tradnl" dirty="0"/>
              <a:t> e </a:t>
            </a:r>
            <a:r>
              <a:rPr lang="es-ES_tradnl" dirty="0" err="1"/>
              <a:t>Stacking</a:t>
            </a:r>
            <a:endParaRPr lang="es-ES_tradnl" dirty="0"/>
          </a:p>
        </p:txBody>
      </p:sp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5EA5189D-5721-3BDD-EC7E-04A53CA1E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750"/>
            <a:ext cx="261594" cy="457200"/>
          </a:xfrm>
          <a:prstGeom prst="rect">
            <a:avLst/>
          </a:prstGeom>
        </p:spPr>
      </p:pic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31065360-90AB-F1B4-7B65-6107FE6C9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5979" y="180975"/>
            <a:ext cx="576021" cy="457200"/>
          </a:xfrm>
          <a:prstGeom prst="rect">
            <a:avLst/>
          </a:prstGeom>
        </p:spPr>
      </p:pic>
      <p:pic>
        <p:nvPicPr>
          <p:cNvPr id="8" name="Imagem 7" descr="Tabela&#10;&#10;O conteúdo gerado por IA pode estar incorreto.">
            <a:extLst>
              <a:ext uri="{FF2B5EF4-FFF2-40B4-BE49-F238E27FC236}">
                <a16:creationId xmlns:a16="http://schemas.microsoft.com/office/drawing/2014/main" id="{AEAA7CE2-7A20-C40F-C4A1-5CF4D0A186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615305"/>
            <a:ext cx="7772400" cy="1282136"/>
          </a:xfrm>
          <a:prstGeom prst="rect">
            <a:avLst/>
          </a:prstGeom>
        </p:spPr>
      </p:pic>
      <p:pic>
        <p:nvPicPr>
          <p:cNvPr id="10" name="Imagem 9" descr="Aplicativo&#10;&#10;O conteúdo gerado por IA pode estar incorreto.">
            <a:extLst>
              <a:ext uri="{FF2B5EF4-FFF2-40B4-BE49-F238E27FC236}">
                <a16:creationId xmlns:a16="http://schemas.microsoft.com/office/drawing/2014/main" id="{4FBF8B2C-B96D-BB10-20BE-DE8BF5BAC8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024665"/>
            <a:ext cx="4171950" cy="1385218"/>
          </a:xfrm>
          <a:prstGeom prst="rect">
            <a:avLst/>
          </a:prstGeom>
        </p:spPr>
      </p:pic>
      <p:pic>
        <p:nvPicPr>
          <p:cNvPr id="13" name="Imagem 12" descr="Texto&#10;&#10;O conteúdo gerado por IA pode estar incorreto.">
            <a:extLst>
              <a:ext uri="{FF2B5EF4-FFF2-40B4-BE49-F238E27FC236}">
                <a16:creationId xmlns:a16="http://schemas.microsoft.com/office/drawing/2014/main" id="{1CE115FB-B468-EEE9-F41E-0FC8BC6ED6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9600" y="3014345"/>
            <a:ext cx="7772400" cy="1298344"/>
          </a:xfrm>
          <a:prstGeom prst="rect">
            <a:avLst/>
          </a:prstGeom>
        </p:spPr>
      </p:pic>
      <p:pic>
        <p:nvPicPr>
          <p:cNvPr id="15" name="Imagem 14" descr="Aplicativo&#10;&#10;O conteúdo gerado por IA pode estar incorreto.">
            <a:extLst>
              <a:ext uri="{FF2B5EF4-FFF2-40B4-BE49-F238E27FC236}">
                <a16:creationId xmlns:a16="http://schemas.microsoft.com/office/drawing/2014/main" id="{354B7666-4E88-D35B-538C-E9D7EEF07C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0950" y="1804381"/>
            <a:ext cx="4591050" cy="1107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03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0BD0A2-F360-8F41-A69D-5DB86D1B9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ADA3AEC-E582-C718-8C38-FCAFFA8DC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s-ES_tradnl" sz="4000">
                <a:solidFill>
                  <a:schemeClr val="bg1"/>
                </a:solidFill>
              </a:rPr>
              <a:t>Conclusões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06A3AB6-8E0F-2596-8832-10F62FD134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5548" y="2217343"/>
            <a:ext cx="9880893" cy="3959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altLang="pt-BR" sz="15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 estudo demonstrou que </a:t>
            </a:r>
            <a:r>
              <a:rPr kumimoji="0" lang="pt-BR" altLang="pt-BR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as técnicas supervisionadas aplicadas à classificação de imagens</a:t>
            </a:r>
            <a:r>
              <a:rPr kumimoji="0" lang="pt-BR" altLang="pt-BR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apresentaram desempenho consistente e coerente com suas propriedades teóricas.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Entre os classificadores individuais, o </a:t>
            </a:r>
            <a:r>
              <a:rPr kumimoji="0" lang="pt-BR" altLang="pt-BR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MLP</a:t>
            </a:r>
            <a:r>
              <a:rPr kumimoji="0" lang="pt-BR" altLang="pt-BR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obteve o </a:t>
            </a:r>
            <a:r>
              <a:rPr kumimoji="0" lang="pt-BR" altLang="pt-BR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melhor desempenho médio (F1 ≈ 0,76)</a:t>
            </a:r>
            <a:r>
              <a:rPr kumimoji="0" lang="pt-BR" altLang="pt-BR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e estabilidade, confirmando sua capacidade de representar relações não lineares complexas.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 </a:t>
            </a:r>
            <a:r>
              <a:rPr kumimoji="0" lang="pt-BR" altLang="pt-BR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Naive Bayes</a:t>
            </a:r>
            <a:r>
              <a:rPr kumimoji="0" lang="pt-BR" altLang="pt-BR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destacou-se pelo </a:t>
            </a:r>
            <a:r>
              <a:rPr kumimoji="0" lang="pt-BR" altLang="pt-BR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baixo custo computacional</a:t>
            </a:r>
            <a:r>
              <a:rPr kumimoji="0" lang="pt-BR" altLang="pt-BR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e bom equilíbrio entre simplicidade e acurácia.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Entre os comitês, o </a:t>
            </a:r>
            <a:r>
              <a:rPr kumimoji="0" lang="pt-BR" altLang="pt-BR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Bagging</a:t>
            </a:r>
            <a:r>
              <a:rPr kumimoji="0" lang="pt-BR" altLang="pt-BR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apresentou o </a:t>
            </a:r>
            <a:r>
              <a:rPr kumimoji="0" lang="pt-BR" altLang="pt-BR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melhor equilíbrio entre desempenho e estabilidade (F1 ≈ 0,77)</a:t>
            </a:r>
            <a:r>
              <a:rPr kumimoji="0" lang="pt-BR" altLang="pt-BR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enquanto </a:t>
            </a:r>
            <a:r>
              <a:rPr kumimoji="0" lang="pt-BR" altLang="pt-BR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Stacking</a:t>
            </a:r>
            <a:r>
              <a:rPr kumimoji="0" lang="pt-BR" altLang="pt-BR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e </a:t>
            </a:r>
            <a:r>
              <a:rPr kumimoji="0" lang="pt-BR" altLang="pt-BR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Random Forest</a:t>
            </a:r>
            <a:r>
              <a:rPr kumimoji="0" lang="pt-BR" altLang="pt-BR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mantiveram resultados muito próximos, sem diferença estatística significativa.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Os </a:t>
            </a:r>
            <a:r>
              <a:rPr kumimoji="0" lang="pt-BR" altLang="pt-BR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descritores HOG superaram os LBP</a:t>
            </a:r>
            <a:r>
              <a:rPr kumimoji="0" lang="pt-BR" altLang="pt-BR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evidenciando maior poder discriminativo estrutural.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 aplicação do </a:t>
            </a:r>
            <a:r>
              <a:rPr kumimoji="0" lang="pt-BR" altLang="pt-BR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PCA</a:t>
            </a:r>
            <a:r>
              <a:rPr kumimoji="0" lang="pt-BR" altLang="pt-BR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reduziu a dimensionalidade sem perda relevante de desempenho, otimizando o custo computacional.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 modo geral, os </a:t>
            </a:r>
            <a:r>
              <a:rPr kumimoji="0" lang="pt-BR" altLang="pt-BR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comitês aumentaram a estabilidade dos modelos</a:t>
            </a:r>
            <a:r>
              <a:rPr kumimoji="0" lang="pt-BR" altLang="pt-BR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mas os ganhos em desempenho foram marginais — indicando que, em bases moderadas, </a:t>
            </a:r>
            <a:r>
              <a:rPr kumimoji="0" lang="pt-BR" altLang="pt-BR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modelos bem ajustados podem alcançar desempenho comparável a ensembles complexos</a:t>
            </a:r>
            <a:r>
              <a:rPr kumimoji="0" lang="pt-BR" altLang="pt-BR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altLang="pt-BR" sz="15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7" name="Gráfico 6" descr="Cérebro estrutura de tópicos">
            <a:extLst>
              <a:ext uri="{FF2B5EF4-FFF2-40B4-BE49-F238E27FC236}">
                <a16:creationId xmlns:a16="http://schemas.microsoft.com/office/drawing/2014/main" id="{22308177-DD14-17CE-AF62-2E8293B312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365125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434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BFFDA-4F66-D6E5-028E-534D0D2BA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685D1-C995-409A-1EE2-A2C70E5FB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Agradecimentos</a:t>
            </a:r>
            <a:endParaRPr lang="es-ES_tradnl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FA839B-05BC-C40E-0EAE-7571FEE0F8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124131"/>
            <a:ext cx="984442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À Deus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Ao professor pela dedicação e paciência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Aos colegas de turma pelas perguntas e pelas trocas em sala de aula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minha família pela compreensão nos vários momentos de ausência pela demanda do curso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275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589</Words>
  <Application>Microsoft Macintosh PowerPoint</Application>
  <PresentationFormat>Widescreen</PresentationFormat>
  <Paragraphs>93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Aptos Narrow</vt:lpstr>
      <vt:lpstr>Arial</vt:lpstr>
      <vt:lpstr>Courier New</vt:lpstr>
      <vt:lpstr>Helvetica</vt:lpstr>
      <vt:lpstr>Tema do Office</vt:lpstr>
      <vt:lpstr>Da Extração de Características à Combinação de Classificadores</vt:lpstr>
      <vt:lpstr>Introdução</vt:lpstr>
      <vt:lpstr>Protocolo e Metodologia</vt:lpstr>
      <vt:lpstr>Base de Dados</vt:lpstr>
      <vt:lpstr>Pré-processamento</vt:lpstr>
      <vt:lpstr>K-NN</vt:lpstr>
      <vt:lpstr>Decision Tree</vt:lpstr>
      <vt:lpstr>Naive Bayes</vt:lpstr>
      <vt:lpstr>Rede Neural MLP</vt:lpstr>
      <vt:lpstr>Bagging e Random Forest</vt:lpstr>
      <vt:lpstr>Voting e Stacking</vt:lpstr>
      <vt:lpstr>Conclusões</vt:lpstr>
      <vt:lpstr>Agradecimentos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 César Faria</dc:creator>
  <cp:lastModifiedBy>Gil César Faria</cp:lastModifiedBy>
  <cp:revision>12</cp:revision>
  <dcterms:created xsi:type="dcterms:W3CDTF">2025-11-12T00:27:07Z</dcterms:created>
  <dcterms:modified xsi:type="dcterms:W3CDTF">2025-11-12T02:06:08Z</dcterms:modified>
</cp:coreProperties>
</file>